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4e12778-b580-694c-f8f6-d4951d753828}">
          <p14:sldIdLst>
            <p14:sldId id="256"/>
          </p14:sldIdLst>
        </p14:section>
        <p14:section name="Problem" id="{e4f14af3-5d91-2db7-69d5-2aa3ccdd83f6}">
          <p14:sldIdLst>
            <p14:sldId id="257"/>
            <p14:sldId id="258"/>
          </p14:sldIdLst>
        </p14:section>
        <p14:section name="Solution" id="{0099b8f0-17fc-6346-2764-72b29396eb3b}">
          <p14:sldIdLst>
            <p14:sldId id="259"/>
            <p14:sldId id="260"/>
            <p14:sldId id="261"/>
          </p14:sldIdLst>
        </p14:section>
        <p14:section name="Intelligence" id="{08293aa6-a78e-92ef-937f-fb839b9ba416}">
          <p14:sldIdLst>
            <p14:sldId id="262"/>
            <p14:sldId id="263"/>
          </p14:sldIdLst>
        </p14:section>
        <p14:section name="Build" id="{3aaa1d59-04df-58b1-916a-e5f44eb4440a}">
          <p14:sldIdLst>
            <p14:sldId id="264"/>
            <p14:sldId id="265"/>
            <p14:sldId id="266"/>
            <p14:sldId id="267"/>
          </p14:sldIdLst>
        </p14:section>
        <p14:section name="Close" id="{7a7c28ec-aa2f-29f4-0132-f7e26fe60c6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+mn-lt"/>
              </a:rPr>
              <a:t>Score = weighted mix (0 to 100)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EA5E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16A34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Hazard type</c:v>
                </c:pt>
                <c:pt idx="1">
                  <c:v>Exposure</c:v>
                </c:pt>
                <c:pt idx="2">
                  <c:v>Community signal</c:v>
                </c:pt>
                <c:pt idx="3">
                  <c:v>Conditions</c:v>
                </c:pt>
                <c:pt idx="4">
                  <c:v>Age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SafeStreet is a hyper-local hazard tracker. One line: every commuter's phone becomes a hazard sensor, and a hazard is only fixed when a photograph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everyday hazards. The issue is not awareness; it is that nobody bothers to report, and authorities have no real-time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every broken step in today's process has a direct fix in SafeStreet.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connected surfaces over one database: citizens report, the public sees, the municipality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flow is camera first. A report within about 20 m of an open one of the same type just adds a vote and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map: pins by severity, safer-route overlay, proximity alerts. Fixed hazards fade out with a before/after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Hazard type 40%, exposure near schools/hospitals/junctions 25%, community confirmations 15%, night/rain conditions 10%, age 10%. The formula is transparent so officials can tune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ticket only closes when the crew uploads an after-photo at the same location. A 'not fixed' vote from nearby citizens reopens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design. PostGIS makes 'hazards within 20 m' a one-line query, which powers duplicate merging and proximity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Must-haves give a complete end-to-end demo. Should-haves add the smart, low-effort reporting. Nice-to-haves are polish.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in the order shown. Impact targets are goals for a pilot ward,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has a concrete mitigation already in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three-word idea: report fast, fix first,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SafeStreet  |  Civic &amp; road hazard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SafeStreet  |  Civic &amp; road hazard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Relationship Id="rId6" Type="http://schemas.openxmlformats.org/officeDocument/2006/relationships/image" Target="../media/image-5-2.png"/><Relationship Id="rId7" Type="http://schemas.openxmlformats.org/officeDocument/2006/relationships/image" Target="../media/image1.png"/><Relationship Id="rId8" Type="http://schemas.openxmlformats.org/officeDocument/2006/relationships/image" Target="../media/image-8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or confetti"/>
          <p:cNvSpPr/>
          <p:nvPr/>
        </p:nvSpPr>
        <p:spPr>
          <a:xfrm>
            <a:off x="4791456" y="4608576"/>
            <a:ext cx="109728" cy="109728"/>
          </a:xfrm>
          <a:prstGeom prst="ellipse">
            <a:avLst/>
          </a:prstGeom>
          <a:solidFill>
            <a:srgbClr val="0EA5E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or confetti"/>
          <p:cNvSpPr/>
          <p:nvPr/>
        </p:nvSpPr>
        <p:spPr>
          <a:xfrm>
            <a:off x="4498848" y="338328"/>
            <a:ext cx="146304" cy="14630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or corner"/>
          <p:cNvSpPr/>
          <p:nvPr/>
        </p:nvSpPr>
        <p:spPr>
          <a:xfrm>
            <a:off x="-1371600" y="3771900"/>
            <a:ext cx="2743200" cy="2743200"/>
          </a:xfrm>
          <a:prstGeom prst="ellipse">
            <a:avLst/>
          </a:prstGeom>
          <a:solidFill>
            <a:srgbClr val="F9731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cor dot"/>
          <p:cNvSpPr/>
          <p:nvPr/>
        </p:nvSpPr>
        <p:spPr>
          <a:xfrm>
            <a:off x="8106156" y="608075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 dot"/>
          <p:cNvSpPr/>
          <p:nvPr/>
        </p:nvSpPr>
        <p:spPr>
          <a:xfrm>
            <a:off x="7923276" y="608075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r dot"/>
          <p:cNvSpPr/>
          <p:nvPr/>
        </p:nvSpPr>
        <p:spPr>
          <a:xfrm>
            <a:off x="7740396" y="608075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or dot"/>
          <p:cNvSpPr/>
          <p:nvPr/>
        </p:nvSpPr>
        <p:spPr>
          <a:xfrm>
            <a:off x="7557516" y="608075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cor dot"/>
          <p:cNvSpPr/>
          <p:nvPr/>
        </p:nvSpPr>
        <p:spPr>
          <a:xfrm>
            <a:off x="8106156" y="42519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cor dot"/>
          <p:cNvSpPr/>
          <p:nvPr/>
        </p:nvSpPr>
        <p:spPr>
          <a:xfrm>
            <a:off x="7923276" y="42519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cor dot"/>
          <p:cNvSpPr/>
          <p:nvPr/>
        </p:nvSpPr>
        <p:spPr>
          <a:xfrm>
            <a:off x="7740396" y="42519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 dot"/>
          <p:cNvSpPr/>
          <p:nvPr/>
        </p:nvSpPr>
        <p:spPr>
          <a:xfrm>
            <a:off x="7557516" y="42519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cor dot"/>
          <p:cNvSpPr/>
          <p:nvPr/>
        </p:nvSpPr>
        <p:spPr>
          <a:xfrm>
            <a:off x="8106156" y="24231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 dot"/>
          <p:cNvSpPr/>
          <p:nvPr/>
        </p:nvSpPr>
        <p:spPr>
          <a:xfrm>
            <a:off x="7923276" y="24231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 dot"/>
          <p:cNvSpPr/>
          <p:nvPr/>
        </p:nvSpPr>
        <p:spPr>
          <a:xfrm>
            <a:off x="7740396" y="24231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cor dot"/>
          <p:cNvSpPr/>
          <p:nvPr/>
        </p:nvSpPr>
        <p:spPr>
          <a:xfrm>
            <a:off x="7557516" y="242316"/>
            <a:ext cx="64008" cy="6400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Circle 1"/>
          <p:cNvSpPr/>
          <p:nvPr/>
        </p:nvSpPr>
        <p:spPr>
          <a:xfrm>
            <a:off x="4754880" y="45720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p/>
        </p:txBody>
      </p:sp>
      <p:sp>
        <p:nvSpPr>
          <p:cNvPr id="3" name="Circle 2"/>
          <p:cNvSpPr/>
          <p:nvPr/>
        </p:nvSpPr>
        <p:spPr>
          <a:xfrm>
            <a:off x="5349240" y="1051560"/>
            <a:ext cx="3017520" cy="3017520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  <p:txBody>
          <a:bodyPr/>
          <a:p/>
        </p:txBody>
      </p:sp>
      <p:sp>
        <p:nvSpPr>
          <p:cNvPr id="4" name="Circle 3"/>
          <p:cNvSpPr/>
          <p:nvPr/>
        </p:nvSpPr>
        <p:spPr>
          <a:xfrm>
            <a:off x="5943600" y="16459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5" name="Pin icon" descr="Map 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03120"/>
            <a:ext cx="914400" cy="914400"/>
          </a:xfrm>
          <a:prstGeom prst="rect">
            <a:avLst/>
          </a:prstGeom>
        </p:spPr>
      </p:pic>
      <p:sp>
        <p:nvSpPr>
          <p:cNvPr id="6" name="Circle 4"/>
          <p:cNvSpPr/>
          <p:nvPr/>
        </p:nvSpPr>
        <p:spPr>
          <a:xfrm>
            <a:off x="5111496" y="85953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7" name="Icon 5" descr="Md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220" y="984260"/>
            <a:ext cx="317480" cy="317480"/>
          </a:xfrm>
          <a:prstGeom prst="rect">
            <a:avLst/>
          </a:prstGeom>
        </p:spPr>
      </p:pic>
      <p:sp>
        <p:nvSpPr>
          <p:cNvPr id="8" name="Circle 6"/>
          <p:cNvSpPr/>
          <p:nvPr/>
        </p:nvSpPr>
        <p:spPr>
          <a:xfrm>
            <a:off x="8037576" y="108813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9" name="Icon 7" descr="MdElectric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300" y="1212860"/>
            <a:ext cx="317480" cy="317480"/>
          </a:xfrm>
          <a:prstGeom prst="rect">
            <a:avLst/>
          </a:prstGeom>
        </p:spPr>
      </p:pic>
      <p:sp>
        <p:nvSpPr>
          <p:cNvPr id="10" name="Circle 8"/>
          <p:cNvSpPr/>
          <p:nvPr/>
        </p:nvSpPr>
        <p:spPr>
          <a:xfrm>
            <a:off x="7946136" y="369417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11" name="Icon 9" descr="M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60" y="3818900"/>
            <a:ext cx="317480" cy="317480"/>
          </a:xfrm>
          <a:prstGeom prst="rect">
            <a:avLst/>
          </a:prstGeom>
        </p:spPr>
      </p:pic>
      <p:sp>
        <p:nvSpPr>
          <p:cNvPr id="12" name="Circle 10"/>
          <p:cNvSpPr/>
          <p:nvPr/>
        </p:nvSpPr>
        <p:spPr>
          <a:xfrm>
            <a:off x="4928616" y="3557016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pic>
        <p:nvPicPr>
          <p:cNvPr id="13" name="Icon 11" descr="MdWaterDr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340" y="3681740"/>
            <a:ext cx="317480" cy="317480"/>
          </a:xfrm>
          <a:prstGeom prst="rect">
            <a:avLst/>
          </a:prstGeom>
        </p:spPr>
      </p:pic>
      <p:sp>
        <p:nvSpPr>
          <p:cNvPr id="14" name="Card 12"/>
          <p:cNvSpPr/>
          <p:nvPr/>
        </p:nvSpPr>
        <p:spPr>
          <a:xfrm>
            <a:off x="548640" y="731520"/>
            <a:ext cx="2468880" cy="347472"/>
          </a:xfrm>
          <a:prstGeom prst="roundRect">
            <a:avLst>
              <a:gd name="adj" fmla="val 36842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HACKATHON  |  PROBLEM #1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325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SafeStreet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Report a road hazard in seconds.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Fix what matters first.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Street-level civic and road hazard tracker: photo-first reporting, a public safety map, a severity-ranked queue and photo-verified fixes.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Hazards everyone sees, nobody logs</a:t>
            </a:r>
            <a:endParaRPr lang="en-US" sz="3000" dirty="0"/>
          </a:p>
        </p:txBody>
      </p:sp>
      <p:sp>
        <p:nvSpPr>
          <p:cNvPr id="3" name="Circle 1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4" name="Icon 19" descr="Md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0"/>
          <p:cNvSpPr/>
          <p:nvPr/>
        </p:nvSpPr>
        <p:spPr>
          <a:xfrm>
            <a:off x="45720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6" name="Circle 21"/>
          <p:cNvSpPr/>
          <p:nvPr/>
        </p:nvSpPr>
        <p:spPr>
          <a:xfrm>
            <a:off x="1028700" y="16230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7" name="Icon 22" descr="MdTripOri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93" y="1794053"/>
            <a:ext cx="435254" cy="435254"/>
          </a:xfrm>
          <a:prstGeom prst="rect">
            <a:avLst/>
          </a:prstGeom>
        </p:spPr>
      </p:pic>
      <p:sp>
        <p:nvSpPr>
          <p:cNvPr id="8" name="Text 23"/>
          <p:cNvSpPr txBox="1"/>
          <p:nvPr/>
        </p:nvSpPr>
        <p:spPr>
          <a:xfrm>
            <a:off x="59436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 manholes</a:t>
            </a:r>
            <a:endParaRPr lang="en-US" sz="1500" dirty="0"/>
          </a:p>
        </p:txBody>
      </p:sp>
      <p:sp>
        <p:nvSpPr>
          <p:cNvPr id="9" name="Text 24"/>
          <p:cNvSpPr txBox="1"/>
          <p:nvPr/>
        </p:nvSpPr>
        <p:spPr>
          <a:xfrm>
            <a:off x="59436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Invisible at night, deadly for two-wheelers</a:t>
            </a:r>
            <a:endParaRPr lang="en-US" sz="1200" dirty="0"/>
          </a:p>
        </p:txBody>
      </p:sp>
      <p:sp>
        <p:nvSpPr>
          <p:cNvPr id="10" name="Card 25"/>
          <p:cNvSpPr/>
          <p:nvPr/>
        </p:nvSpPr>
        <p:spPr>
          <a:xfrm>
            <a:off x="256032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1" name="Circle 26"/>
          <p:cNvSpPr/>
          <p:nvPr/>
        </p:nvSpPr>
        <p:spPr>
          <a:xfrm>
            <a:off x="3131820" y="16230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12" name="Icon 27" descr="MdElectric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813" y="1794053"/>
            <a:ext cx="435254" cy="435254"/>
          </a:xfrm>
          <a:prstGeom prst="rect">
            <a:avLst/>
          </a:prstGeom>
        </p:spPr>
      </p:pic>
      <p:sp>
        <p:nvSpPr>
          <p:cNvPr id="13" name="Text 28"/>
          <p:cNvSpPr txBox="1"/>
          <p:nvPr/>
        </p:nvSpPr>
        <p:spPr>
          <a:xfrm>
            <a:off x="26974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Dangling live wires</a:t>
            </a:r>
            <a:endParaRPr lang="en-US" sz="1500" dirty="0"/>
          </a:p>
        </p:txBody>
      </p:sp>
      <p:sp>
        <p:nvSpPr>
          <p:cNvPr id="14" name="Text 29"/>
          <p:cNvSpPr txBox="1"/>
          <p:nvPr/>
        </p:nvSpPr>
        <p:spPr>
          <a:xfrm>
            <a:off x="269748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Electrocution risk, worst in the rain</a:t>
            </a:r>
            <a:endParaRPr lang="en-US" sz="1200" dirty="0"/>
          </a:p>
        </p:txBody>
      </p:sp>
      <p:sp>
        <p:nvSpPr>
          <p:cNvPr id="15" name="Card 30"/>
          <p:cNvSpPr/>
          <p:nvPr/>
        </p:nvSpPr>
        <p:spPr>
          <a:xfrm>
            <a:off x="466344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Circle 31"/>
          <p:cNvSpPr/>
          <p:nvPr/>
        </p:nvSpPr>
        <p:spPr>
          <a:xfrm>
            <a:off x="5234940" y="16230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7" name="Icon 32" descr="MdDirectionsWal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933" y="1794053"/>
            <a:ext cx="435254" cy="435254"/>
          </a:xfrm>
          <a:prstGeom prst="rect">
            <a:avLst/>
          </a:prstGeom>
        </p:spPr>
      </p:pic>
      <p:sp>
        <p:nvSpPr>
          <p:cNvPr id="18" name="Text 33"/>
          <p:cNvSpPr txBox="1"/>
          <p:nvPr/>
        </p:nvSpPr>
        <p:spPr>
          <a:xfrm>
            <a:off x="48006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Broken footpaths</a:t>
            </a:r>
            <a:endParaRPr lang="en-US" sz="1500" dirty="0"/>
          </a:p>
        </p:txBody>
      </p:sp>
      <p:sp>
        <p:nvSpPr>
          <p:cNvPr id="19" name="Text 34"/>
          <p:cNvSpPr txBox="1"/>
          <p:nvPr/>
        </p:nvSpPr>
        <p:spPr>
          <a:xfrm>
            <a:off x="480060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Pushes pedestrians onto the road</a:t>
            </a:r>
            <a:endParaRPr lang="en-US" sz="1200" dirty="0"/>
          </a:p>
        </p:txBody>
      </p:sp>
      <p:sp>
        <p:nvSpPr>
          <p:cNvPr id="20" name="Card 35"/>
          <p:cNvSpPr/>
          <p:nvPr/>
        </p:nvSpPr>
        <p:spPr>
          <a:xfrm>
            <a:off x="676656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1" name="Circle 36"/>
          <p:cNvSpPr/>
          <p:nvPr/>
        </p:nvSpPr>
        <p:spPr>
          <a:xfrm>
            <a:off x="7338060" y="162306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pic>
        <p:nvPicPr>
          <p:cNvPr id="22" name="Icon 37" descr="MdWaterDr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053" y="1794053"/>
            <a:ext cx="435254" cy="435254"/>
          </a:xfrm>
          <a:prstGeom prst="rect">
            <a:avLst/>
          </a:prstGeom>
        </p:spPr>
      </p:pic>
      <p:sp>
        <p:nvSpPr>
          <p:cNvPr id="23" name="Text 38"/>
          <p:cNvSpPr txBox="1"/>
          <p:nvPr/>
        </p:nvSpPr>
        <p:spPr>
          <a:xfrm>
            <a:off x="69037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Waterlogging</a:t>
            </a:r>
            <a:endParaRPr lang="en-US" sz="1500" dirty="0"/>
          </a:p>
        </p:txBody>
      </p:sp>
      <p:sp>
        <p:nvSpPr>
          <p:cNvPr id="24" name="Text 39"/>
          <p:cNvSpPr txBox="1"/>
          <p:nvPr/>
        </p:nvSpPr>
        <p:spPr>
          <a:xfrm>
            <a:off x="690372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Hides potholes and open drains</a:t>
            </a:r>
            <a:endParaRPr lang="en-US" sz="1200" dirty="0"/>
          </a:p>
        </p:txBody>
      </p:sp>
      <p:sp>
        <p:nvSpPr>
          <p:cNvPr id="25" name="Card 40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6" name="Text 41"/>
          <p:cNvSpPr txBox="1"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Reporting is so complicated that people skip it.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Risks stay until an accident happens.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 vs SafeStreet</a:t>
            </a:r>
            <a:endParaRPr lang="en-US" sz="3000" dirty="0"/>
          </a:p>
        </p:txBody>
      </p:sp>
      <p:sp>
        <p:nvSpPr>
          <p:cNvPr id="3" name="Circle 42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43" descr="MdTu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Text 44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TODAY</a:t>
            </a:r>
            <a:endParaRPr lang="en-US" sz="1300" dirty="0"/>
          </a:p>
        </p:txBody>
      </p:sp>
      <p:sp>
        <p:nvSpPr>
          <p:cNvPr id="6" name="Text 45"/>
          <p:cNvSpPr txBox="1"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WITH SAFESTREET</a:t>
            </a:r>
            <a:endParaRPr lang="en-US" sz="1300" dirty="0"/>
          </a:p>
        </p:txBody>
      </p:sp>
      <p:sp>
        <p:nvSpPr>
          <p:cNvPr id="7" name="Card 46"/>
          <p:cNvSpPr/>
          <p:nvPr/>
        </p:nvSpPr>
        <p:spPr>
          <a:xfrm>
            <a:off x="457200" y="1417320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  <p:txBody>
          <a:bodyPr/>
          <a:p/>
        </p:txBody>
      </p:sp>
      <p:sp>
        <p:nvSpPr>
          <p:cNvPr id="8" name="Card 47"/>
          <p:cNvSpPr/>
          <p:nvPr/>
        </p:nvSpPr>
        <p:spPr>
          <a:xfrm>
            <a:off x="5029200" y="1417320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9" name="Circle 48"/>
          <p:cNvSpPr/>
          <p:nvPr/>
        </p:nvSpPr>
        <p:spPr>
          <a:xfrm>
            <a:off x="594360" y="157276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10" name="Icon 49" descr="MdClo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" y="1653235"/>
            <a:ext cx="204826" cy="204826"/>
          </a:xfrm>
          <a:prstGeom prst="rect">
            <a:avLst/>
          </a:prstGeom>
        </p:spPr>
      </p:pic>
      <p:sp>
        <p:nvSpPr>
          <p:cNvPr id="11" name="Circle 50"/>
          <p:cNvSpPr/>
          <p:nvPr/>
        </p:nvSpPr>
        <p:spPr>
          <a:xfrm>
            <a:off x="5166360" y="157276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12" name="Icon 51" descr="M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827" y="1653235"/>
            <a:ext cx="204826" cy="204826"/>
          </a:xfrm>
          <a:prstGeom prst="rect">
            <a:avLst/>
          </a:prstGeom>
        </p:spPr>
      </p:pic>
      <p:sp>
        <p:nvSpPr>
          <p:cNvPr id="13" name="Text 52"/>
          <p:cNvSpPr txBox="1"/>
          <p:nvPr/>
        </p:nvSpPr>
        <p:spPr>
          <a:xfrm>
            <a:off x="1097280" y="141732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forms and department lookups</a:t>
            </a:r>
            <a:endParaRPr lang="en-US" sz="1400" dirty="0"/>
          </a:p>
        </p:txBody>
      </p:sp>
      <p:sp>
        <p:nvSpPr>
          <p:cNvPr id="14" name="Text 53"/>
          <p:cNvSpPr txBox="1"/>
          <p:nvPr/>
        </p:nvSpPr>
        <p:spPr>
          <a:xfrm>
            <a:off x="5669280" y="141732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3-tap photo report with auto location</a:t>
            </a:r>
            <a:endParaRPr lang="en-US" sz="1400" dirty="0"/>
          </a:p>
        </p:txBody>
      </p:sp>
      <p:sp>
        <p:nvSpPr>
          <p:cNvPr id="15" name="Arrow 54"/>
          <p:cNvSpPr/>
          <p:nvPr/>
        </p:nvSpPr>
        <p:spPr>
          <a:xfrm>
            <a:off x="4251960" y="1618488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6" name="Card 55"/>
          <p:cNvSpPr/>
          <p:nvPr/>
        </p:nvSpPr>
        <p:spPr>
          <a:xfrm>
            <a:off x="457200" y="2221992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  <p:txBody>
          <a:bodyPr/>
          <a:p/>
        </p:txBody>
      </p:sp>
      <p:sp>
        <p:nvSpPr>
          <p:cNvPr id="17" name="Card 56"/>
          <p:cNvSpPr/>
          <p:nvPr/>
        </p:nvSpPr>
        <p:spPr>
          <a:xfrm>
            <a:off x="5029200" y="2221992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18" name="Circle 57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19" name="Icon 58" descr="MdClo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2457907"/>
            <a:ext cx="204826" cy="204826"/>
          </a:xfrm>
          <a:prstGeom prst="rect">
            <a:avLst/>
          </a:prstGeom>
        </p:spPr>
      </p:pic>
      <p:sp>
        <p:nvSpPr>
          <p:cNvPr id="20" name="Circle 59"/>
          <p:cNvSpPr/>
          <p:nvPr/>
        </p:nvSpPr>
        <p:spPr>
          <a:xfrm>
            <a:off x="5166360" y="23774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21" name="Icon 60" descr="M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827" y="2457907"/>
            <a:ext cx="204826" cy="204826"/>
          </a:xfrm>
          <a:prstGeom prst="rect">
            <a:avLst/>
          </a:prstGeom>
        </p:spPr>
      </p:pic>
      <p:sp>
        <p:nvSpPr>
          <p:cNvPr id="22" name="Text 61"/>
          <p:cNvSpPr txBox="1"/>
          <p:nvPr/>
        </p:nvSpPr>
        <p:spPr>
          <a:xfrm>
            <a:off x="1097280" y="22219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unsorted pile of complaints</a:t>
            </a:r>
            <a:endParaRPr lang="en-US" sz="1400" dirty="0"/>
          </a:p>
        </p:txBody>
      </p:sp>
      <p:sp>
        <p:nvSpPr>
          <p:cNvPr id="23" name="Text 62"/>
          <p:cNvSpPr txBox="1"/>
          <p:nvPr/>
        </p:nvSpPr>
        <p:spPr>
          <a:xfrm>
            <a:off x="5669280" y="22219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Severity-ranked queue per ward</a:t>
            </a:r>
            <a:endParaRPr lang="en-US" sz="1400" dirty="0"/>
          </a:p>
        </p:txBody>
      </p:sp>
      <p:sp>
        <p:nvSpPr>
          <p:cNvPr id="24" name="Arrow 63"/>
          <p:cNvSpPr/>
          <p:nvPr/>
        </p:nvSpPr>
        <p:spPr>
          <a:xfrm>
            <a:off x="4251960" y="2423160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5" name="Card 64"/>
          <p:cNvSpPr/>
          <p:nvPr/>
        </p:nvSpPr>
        <p:spPr>
          <a:xfrm>
            <a:off x="457200" y="3026664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  <p:txBody>
          <a:bodyPr/>
          <a:p/>
        </p:txBody>
      </p:sp>
      <p:sp>
        <p:nvSpPr>
          <p:cNvPr id="26" name="Card 65"/>
          <p:cNvSpPr/>
          <p:nvPr/>
        </p:nvSpPr>
        <p:spPr>
          <a:xfrm>
            <a:off x="5029200" y="3026664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27" name="Circle 66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28" name="Icon 67" descr="MdClo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" y="3262579"/>
            <a:ext cx="204826" cy="204826"/>
          </a:xfrm>
          <a:prstGeom prst="rect">
            <a:avLst/>
          </a:prstGeom>
        </p:spPr>
      </p:pic>
      <p:sp>
        <p:nvSpPr>
          <p:cNvPr id="29" name="Circle 68"/>
          <p:cNvSpPr/>
          <p:nvPr/>
        </p:nvSpPr>
        <p:spPr>
          <a:xfrm>
            <a:off x="5166360" y="318211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30" name="Icon 69" descr="M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6827" y="3262579"/>
            <a:ext cx="204826" cy="204826"/>
          </a:xfrm>
          <a:prstGeom prst="rect">
            <a:avLst/>
          </a:prstGeom>
        </p:spPr>
      </p:pic>
      <p:sp>
        <p:nvSpPr>
          <p:cNvPr id="31" name="Text 70"/>
          <p:cNvSpPr txBox="1"/>
          <p:nvPr/>
        </p:nvSpPr>
        <p:spPr>
          <a:xfrm>
            <a:off x="109728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vanish, nobody sees them</a:t>
            </a:r>
            <a:endParaRPr lang="en-US" sz="1400" dirty="0"/>
          </a:p>
        </p:txBody>
      </p:sp>
      <p:sp>
        <p:nvSpPr>
          <p:cNvPr id="32" name="Text 71"/>
          <p:cNvSpPr txBox="1"/>
          <p:nvPr/>
        </p:nvSpPr>
        <p:spPr>
          <a:xfrm>
            <a:off x="566928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safety map with live status</a:t>
            </a:r>
            <a:endParaRPr lang="en-US" sz="1400" dirty="0"/>
          </a:p>
        </p:txBody>
      </p:sp>
      <p:sp>
        <p:nvSpPr>
          <p:cNvPr id="33" name="Arrow 72"/>
          <p:cNvSpPr/>
          <p:nvPr/>
        </p:nvSpPr>
        <p:spPr>
          <a:xfrm>
            <a:off x="4251960" y="3227832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4" name="Card 73"/>
          <p:cNvSpPr/>
          <p:nvPr/>
        </p:nvSpPr>
        <p:spPr>
          <a:xfrm>
            <a:off x="457200" y="3831336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  <p:txBody>
          <a:bodyPr/>
          <a:p/>
        </p:txBody>
      </p:sp>
      <p:sp>
        <p:nvSpPr>
          <p:cNvPr id="35" name="Card 74"/>
          <p:cNvSpPr/>
          <p:nvPr/>
        </p:nvSpPr>
        <p:spPr>
          <a:xfrm>
            <a:off x="5029200" y="3831336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36" name="Circle 75"/>
          <p:cNvSpPr/>
          <p:nvPr/>
        </p:nvSpPr>
        <p:spPr>
          <a:xfrm>
            <a:off x="594360" y="39867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37" name="Icon 76" descr="MdClo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" y="4067251"/>
            <a:ext cx="204826" cy="204826"/>
          </a:xfrm>
          <a:prstGeom prst="rect">
            <a:avLst/>
          </a:prstGeom>
        </p:spPr>
      </p:pic>
      <p:sp>
        <p:nvSpPr>
          <p:cNvPr id="38" name="Circle 77"/>
          <p:cNvSpPr/>
          <p:nvPr/>
        </p:nvSpPr>
        <p:spPr>
          <a:xfrm>
            <a:off x="5166360" y="39867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39" name="Icon 78" descr="Md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6827" y="4067251"/>
            <a:ext cx="204826" cy="204826"/>
          </a:xfrm>
          <a:prstGeom prst="rect">
            <a:avLst/>
          </a:prstGeom>
        </p:spPr>
      </p:pic>
      <p:sp>
        <p:nvSpPr>
          <p:cNvPr id="40" name="Text 79"/>
          <p:cNvSpPr txBox="1"/>
          <p:nvPr/>
        </p:nvSpPr>
        <p:spPr>
          <a:xfrm>
            <a:off x="1097280" y="38313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Tickets closed on paper</a:t>
            </a:r>
            <a:endParaRPr lang="en-US" sz="1400" dirty="0"/>
          </a:p>
        </p:txBody>
      </p:sp>
      <p:sp>
        <p:nvSpPr>
          <p:cNvPr id="41" name="Text 80"/>
          <p:cNvSpPr txBox="1"/>
          <p:nvPr/>
        </p:nvSpPr>
        <p:spPr>
          <a:xfrm>
            <a:off x="5669280" y="38313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Fixes verified by a new photograph</a:t>
            </a:r>
            <a:endParaRPr lang="en-US" sz="1400" dirty="0"/>
          </a:p>
        </p:txBody>
      </p:sp>
      <p:sp>
        <p:nvSpPr>
          <p:cNvPr id="42" name="Arrow 81"/>
          <p:cNvSpPr/>
          <p:nvPr/>
        </p:nvSpPr>
        <p:spPr>
          <a:xfrm>
            <a:off x="4251960" y="4032504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platform, three surfaces</a:t>
            </a:r>
            <a:endParaRPr lang="en-US" sz="3000" dirty="0"/>
          </a:p>
        </p:txBody>
      </p:sp>
      <p:sp>
        <p:nvSpPr>
          <p:cNvPr id="3" name="Circle 82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83" descr="Md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84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6" name="Circle 85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7" name="Icon 86" descr="MdPhoneAndro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1623974"/>
            <a:ext cx="409651" cy="409651"/>
          </a:xfrm>
          <a:prstGeom prst="rect">
            <a:avLst/>
          </a:prstGeom>
        </p:spPr>
      </p:pic>
      <p:sp>
        <p:nvSpPr>
          <p:cNvPr id="8" name="Text 87"/>
          <p:cNvSpPr txBox="1"/>
          <p:nvPr/>
        </p:nvSpPr>
        <p:spPr>
          <a:xfrm>
            <a:off x="155448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Citizen app</a:t>
            </a:r>
            <a:endParaRPr lang="en-US" sz="1600" dirty="0"/>
          </a:p>
        </p:txBody>
      </p:sp>
      <p:sp>
        <p:nvSpPr>
          <p:cNvPr id="9" name="Text 88"/>
          <p:cNvSpPr txBox="1"/>
          <p:nvPr/>
        </p:nvSpPr>
        <p:spPr>
          <a:xfrm>
            <a:off x="6858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Photo, pin or voice note</a:t>
            </a:r>
            <a:endParaRPr lang="en-US" sz="1300" dirty="0"/>
          </a:p>
        </p:txBody>
      </p:sp>
      <p:sp>
        <p:nvSpPr>
          <p:cNvPr id="10" name="Text 89"/>
          <p:cNvSpPr txBox="1"/>
          <p:nvPr/>
        </p:nvSpPr>
        <p:spPr>
          <a:xfrm>
            <a:off x="68580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in seconds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long forms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offline</a:t>
            </a:r>
            <a:endParaRPr lang="en-US" sz="1400" dirty="0"/>
          </a:p>
        </p:txBody>
      </p:sp>
      <p:sp>
        <p:nvSpPr>
          <p:cNvPr id="11" name="Card 90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2" name="Circle 91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pic>
        <p:nvPicPr>
          <p:cNvPr id="13" name="Icon 92" descr="Md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374" y="1623974"/>
            <a:ext cx="409651" cy="409651"/>
          </a:xfrm>
          <a:prstGeom prst="rect">
            <a:avLst/>
          </a:prstGeom>
        </p:spPr>
      </p:pic>
      <p:sp>
        <p:nvSpPr>
          <p:cNvPr id="14" name="Text 93"/>
          <p:cNvSpPr txBox="1"/>
          <p:nvPr/>
        </p:nvSpPr>
        <p:spPr>
          <a:xfrm>
            <a:off x="438912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 safety map</a:t>
            </a:r>
            <a:endParaRPr lang="en-US" sz="1600" dirty="0"/>
          </a:p>
        </p:txBody>
      </p:sp>
      <p:sp>
        <p:nvSpPr>
          <p:cNvPr id="15" name="Text 94"/>
          <p:cNvSpPr txBox="1"/>
          <p:nvPr/>
        </p:nvSpPr>
        <p:spPr>
          <a:xfrm>
            <a:off x="35204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Navigate around danger</a:t>
            </a:r>
            <a:endParaRPr lang="en-US" sz="1300" dirty="0"/>
          </a:p>
        </p:txBody>
      </p:sp>
      <p:sp>
        <p:nvSpPr>
          <p:cNvPr id="16" name="Text 95"/>
          <p:cNvSpPr txBox="1"/>
          <p:nvPr/>
        </p:nvSpPr>
        <p:spPr>
          <a:xfrm>
            <a:off x="352044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Severity-coloured pins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Safer routes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Proximity alerts</a:t>
            </a:r>
            <a:endParaRPr lang="en-US" sz="1400" dirty="0"/>
          </a:p>
        </p:txBody>
      </p:sp>
      <p:sp>
        <p:nvSpPr>
          <p:cNvPr id="17" name="Card 96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8" name="Circle 97"/>
          <p:cNvSpPr/>
          <p:nvPr/>
        </p:nvSpPr>
        <p:spPr>
          <a:xfrm>
            <a:off x="635508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19" name="Icon 98" descr="MdEnginee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014" y="1623974"/>
            <a:ext cx="409651" cy="409651"/>
          </a:xfrm>
          <a:prstGeom prst="rect">
            <a:avLst/>
          </a:prstGeom>
        </p:spPr>
      </p:pic>
      <p:sp>
        <p:nvSpPr>
          <p:cNvPr id="20" name="Text 99"/>
          <p:cNvSpPr txBox="1"/>
          <p:nvPr/>
        </p:nvSpPr>
        <p:spPr>
          <a:xfrm>
            <a:off x="722376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Municipal dashboard</a:t>
            </a:r>
            <a:endParaRPr lang="en-US" sz="1600" dirty="0"/>
          </a:p>
        </p:txBody>
      </p:sp>
      <p:sp>
        <p:nvSpPr>
          <p:cNvPr id="21" name="Text 100"/>
          <p:cNvSpPr txBox="1"/>
          <p:nvPr/>
        </p:nvSpPr>
        <p:spPr>
          <a:xfrm>
            <a:off x="63550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Know what to fix first</a:t>
            </a:r>
            <a:endParaRPr lang="en-US" sz="1300" dirty="0"/>
          </a:p>
        </p:txBody>
      </p:sp>
      <p:sp>
        <p:nvSpPr>
          <p:cNvPr id="22" name="Text 101"/>
          <p:cNvSpPr txBox="1"/>
          <p:nvPr/>
        </p:nvSpPr>
        <p:spPr>
          <a:xfrm>
            <a:off x="635508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 crews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with a photo</a:t>
            </a:r>
            <a:endParaRPr lang="en-US" sz="1400" dirty="0"/>
          </a:p>
        </p:txBody>
      </p:sp>
      <p:sp>
        <p:nvSpPr>
          <p:cNvPr id="23" name="Card 10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4" name="Text 10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 shared geospatial hazard database keeps all three in sync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10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10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Report a hazard in 10 seconds</a:t>
            </a:r>
            <a:endParaRPr lang="en-US" sz="3000" dirty="0"/>
          </a:p>
        </p:txBody>
      </p:sp>
      <p:sp>
        <p:nvSpPr>
          <p:cNvPr id="3" name="Circle 104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105" descr="MdTi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106"/>
          <p:cNvSpPr/>
          <p:nvPr/>
        </p:nvSpPr>
        <p:spPr>
          <a:xfrm>
            <a:off x="45720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6" name="Circle 107"/>
          <p:cNvSpPr/>
          <p:nvPr/>
        </p:nvSpPr>
        <p:spPr>
          <a:xfrm>
            <a:off x="123444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7" name="Icon 108" descr="MdPhoto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91" y="1644091"/>
            <a:ext cx="460858" cy="460858"/>
          </a:xfrm>
          <a:prstGeom prst="rect">
            <a:avLst/>
          </a:prstGeom>
        </p:spPr>
      </p:pic>
      <p:sp>
        <p:nvSpPr>
          <p:cNvPr id="8" name="Text 109"/>
          <p:cNvSpPr txBox="1"/>
          <p:nvPr/>
        </p:nvSpPr>
        <p:spPr>
          <a:xfrm>
            <a:off x="64008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 Snap</a:t>
            </a:r>
            <a:endParaRPr lang="en-US" sz="1800" dirty="0"/>
          </a:p>
        </p:txBody>
      </p:sp>
      <p:sp>
        <p:nvSpPr>
          <p:cNvPr id="9" name="Text 110"/>
          <p:cNvSpPr txBox="1"/>
          <p:nvPr/>
        </p:nvSpPr>
        <p:spPr>
          <a:xfrm>
            <a:off x="64008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Camera opens straight away. No login needed to report.</a:t>
            </a:r>
            <a:endParaRPr lang="en-US" sz="1200" dirty="0"/>
          </a:p>
        </p:txBody>
      </p:sp>
      <p:sp>
        <p:nvSpPr>
          <p:cNvPr id="10" name="Arrow 111"/>
          <p:cNvSpPr/>
          <p:nvPr/>
        </p:nvSpPr>
        <p:spPr>
          <a:xfrm>
            <a:off x="2926080" y="2240280"/>
            <a:ext cx="365760" cy="32004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1" name="Card 112"/>
          <p:cNvSpPr/>
          <p:nvPr/>
        </p:nvSpPr>
        <p:spPr>
          <a:xfrm>
            <a:off x="338328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2" name="Circle 113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3" name="Icon 114" descr="MdMyLo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71" y="1644091"/>
            <a:ext cx="460858" cy="460858"/>
          </a:xfrm>
          <a:prstGeom prst="rect">
            <a:avLst/>
          </a:prstGeom>
        </p:spPr>
      </p:pic>
      <p:sp>
        <p:nvSpPr>
          <p:cNvPr id="14" name="Text 115"/>
          <p:cNvSpPr txBox="1"/>
          <p:nvPr/>
        </p:nvSpPr>
        <p:spPr>
          <a:xfrm>
            <a:off x="356616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 Pin</a:t>
            </a:r>
            <a:endParaRPr lang="en-US" sz="1800" dirty="0"/>
          </a:p>
        </p:txBody>
      </p:sp>
      <p:sp>
        <p:nvSpPr>
          <p:cNvPr id="15" name="Text 116"/>
          <p:cNvSpPr txBox="1"/>
          <p:nvPr/>
        </p:nvSpPr>
        <p:spPr>
          <a:xfrm>
            <a:off x="356616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GPS fills the location. Drag to adjust, or record a voice note.</a:t>
            </a:r>
            <a:endParaRPr lang="en-US" sz="1200" dirty="0"/>
          </a:p>
        </p:txBody>
      </p:sp>
      <p:sp>
        <p:nvSpPr>
          <p:cNvPr id="16" name="Arrow 117"/>
          <p:cNvSpPr/>
          <p:nvPr/>
        </p:nvSpPr>
        <p:spPr>
          <a:xfrm>
            <a:off x="5852160" y="2240280"/>
            <a:ext cx="365760" cy="32004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7" name="Card 118"/>
          <p:cNvSpPr/>
          <p:nvPr/>
        </p:nvSpPr>
        <p:spPr>
          <a:xfrm>
            <a:off x="630936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8" name="Circle 119"/>
          <p:cNvSpPr/>
          <p:nvPr/>
        </p:nvSpPr>
        <p:spPr>
          <a:xfrm>
            <a:off x="708660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9" name="Icon 120" descr="MdAutoAweso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1" y="1644091"/>
            <a:ext cx="460858" cy="460858"/>
          </a:xfrm>
          <a:prstGeom prst="rect">
            <a:avLst/>
          </a:prstGeom>
        </p:spPr>
      </p:pic>
      <p:sp>
        <p:nvSpPr>
          <p:cNvPr id="20" name="Text 121"/>
          <p:cNvSpPr txBox="1"/>
          <p:nvPr/>
        </p:nvSpPr>
        <p:spPr>
          <a:xfrm>
            <a:off x="649224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 Send</a:t>
            </a:r>
            <a:endParaRPr lang="en-US" sz="1800" dirty="0"/>
          </a:p>
        </p:txBody>
      </p:sp>
      <p:sp>
        <p:nvSpPr>
          <p:cNvPr id="21" name="Text 122"/>
          <p:cNvSpPr txBox="1"/>
          <p:nvPr/>
        </p:nvSpPr>
        <p:spPr>
          <a:xfrm>
            <a:off x="649224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AI suggests type and severity. One tap to confirm.</a:t>
            </a:r>
            <a:endParaRPr lang="en-US" sz="1200" dirty="0"/>
          </a:p>
        </p:txBody>
      </p:sp>
      <p:sp>
        <p:nvSpPr>
          <p:cNvPr id="22" name="Card 123"/>
          <p:cNvSpPr/>
          <p:nvPr/>
        </p:nvSpPr>
        <p:spPr>
          <a:xfrm>
            <a:off x="45720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3" name="Circle 124"/>
          <p:cNvSpPr/>
          <p:nvPr/>
        </p:nvSpPr>
        <p:spPr>
          <a:xfrm>
            <a:off x="61722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24" name="Icon 125" descr="MdM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6" y="4017874"/>
            <a:ext cx="230429" cy="230429"/>
          </a:xfrm>
          <a:prstGeom prst="rect">
            <a:avLst/>
          </a:prstGeom>
        </p:spPr>
      </p:pic>
      <p:sp>
        <p:nvSpPr>
          <p:cNvPr id="25" name="Text 126"/>
          <p:cNvSpPr txBox="1"/>
          <p:nvPr/>
        </p:nvSpPr>
        <p:spPr>
          <a:xfrm>
            <a:off x="114300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Voice note in local language</a:t>
            </a:r>
            <a:endParaRPr lang="en-US" sz="1300" dirty="0"/>
          </a:p>
        </p:txBody>
      </p:sp>
      <p:sp>
        <p:nvSpPr>
          <p:cNvPr id="26" name="Card 127"/>
          <p:cNvSpPr/>
          <p:nvPr/>
        </p:nvSpPr>
        <p:spPr>
          <a:xfrm>
            <a:off x="338328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7" name="Circle 128"/>
          <p:cNvSpPr/>
          <p:nvPr/>
        </p:nvSpPr>
        <p:spPr>
          <a:xfrm>
            <a:off x="354330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28" name="Icon 129" descr="MdWifiOf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826" y="4017874"/>
            <a:ext cx="230429" cy="230429"/>
          </a:xfrm>
          <a:prstGeom prst="rect">
            <a:avLst/>
          </a:prstGeom>
        </p:spPr>
      </p:pic>
      <p:sp>
        <p:nvSpPr>
          <p:cNvPr id="29" name="Text 130"/>
          <p:cNvSpPr txBox="1"/>
          <p:nvPr/>
        </p:nvSpPr>
        <p:spPr>
          <a:xfrm>
            <a:off x="406908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Offline queue, auto-upload</a:t>
            </a:r>
            <a:endParaRPr lang="en-US" sz="1300" dirty="0"/>
          </a:p>
        </p:txBody>
      </p:sp>
      <p:sp>
        <p:nvSpPr>
          <p:cNvPr id="30" name="Card 131"/>
          <p:cNvSpPr/>
          <p:nvPr/>
        </p:nvSpPr>
        <p:spPr>
          <a:xfrm>
            <a:off x="630936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31" name="Circle 132"/>
          <p:cNvSpPr/>
          <p:nvPr/>
        </p:nvSpPr>
        <p:spPr>
          <a:xfrm>
            <a:off x="646938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32" name="Icon 133" descr="MdContentCop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906" y="4017874"/>
            <a:ext cx="230429" cy="230429"/>
          </a:xfrm>
          <a:prstGeom prst="rect">
            <a:avLst/>
          </a:prstGeom>
        </p:spPr>
      </p:pic>
      <p:sp>
        <p:nvSpPr>
          <p:cNvPr id="33" name="Text 134"/>
          <p:cNvSpPr txBox="1"/>
          <p:nvPr/>
        </p:nvSpPr>
        <p:spPr>
          <a:xfrm>
            <a:off x="699516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Duplicates merge into one hazard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safety map you can navigate by</a:t>
            </a:r>
            <a:endParaRPr lang="en-US" sz="3000" dirty="0"/>
          </a:p>
        </p:txBody>
      </p:sp>
      <p:sp>
        <p:nvSpPr>
          <p:cNvPr id="3" name="Circle 13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pic>
        <p:nvPicPr>
          <p:cNvPr id="4" name="Icon 136" descr="Md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Shape 137"/>
          <p:cNvSpPr/>
          <p:nvPr/>
        </p:nvSpPr>
        <p:spPr>
          <a:xfrm>
            <a:off x="457200" y="1280160"/>
            <a:ext cx="4572000" cy="2880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" name="Road 138"/>
          <p:cNvSpPr/>
          <p:nvPr/>
        </p:nvSpPr>
        <p:spPr>
          <a:xfrm>
            <a:off x="457200" y="2148840"/>
            <a:ext cx="457200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Road 139"/>
          <p:cNvSpPr/>
          <p:nvPr/>
        </p:nvSpPr>
        <p:spPr>
          <a:xfrm>
            <a:off x="457200" y="3246120"/>
            <a:ext cx="457200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Road 140"/>
          <p:cNvSpPr/>
          <p:nvPr/>
        </p:nvSpPr>
        <p:spPr>
          <a:xfrm>
            <a:off x="2011680" y="1280160"/>
            <a:ext cx="0" cy="288036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Road 141"/>
          <p:cNvSpPr/>
          <p:nvPr/>
        </p:nvSpPr>
        <p:spPr>
          <a:xfrm>
            <a:off x="3657600" y="1280160"/>
            <a:ext cx="0" cy="288036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Block 142"/>
          <p:cNvSpPr/>
          <p:nvPr/>
        </p:nvSpPr>
        <p:spPr>
          <a:xfrm>
            <a:off x="731520" y="1508760"/>
            <a:ext cx="100584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1" name="Block 143"/>
          <p:cNvSpPr/>
          <p:nvPr/>
        </p:nvSpPr>
        <p:spPr>
          <a:xfrm>
            <a:off x="3931920" y="2468880"/>
            <a:ext cx="822960" cy="5943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2" name="Block 144"/>
          <p:cNvSpPr/>
          <p:nvPr/>
        </p:nvSpPr>
        <p:spPr>
          <a:xfrm>
            <a:off x="731520" y="2423160"/>
            <a:ext cx="1005840" cy="5486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3" name="Route"/>
          <p:cNvSpPr/>
          <p:nvPr/>
        </p:nvSpPr>
        <p:spPr>
          <a:xfrm>
            <a:off x="731520" y="3246120"/>
            <a:ext cx="2926080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dash"/>
          </a:ln>
        </p:spPr>
        <p:txBody>
          <a:bodyPr/>
          <a:p/>
        </p:txBody>
      </p:sp>
      <p:sp>
        <p:nvSpPr>
          <p:cNvPr id="14" name="Route end"/>
          <p:cNvSpPr/>
          <p:nvPr/>
        </p:nvSpPr>
        <p:spPr>
          <a:xfrm>
            <a:off x="3657600" y="3246120"/>
            <a:ext cx="0" cy="685800"/>
          </a:xfrm>
          <a:prstGeom prst="line">
            <a:avLst/>
          </a:prstGeom>
          <a:noFill/>
          <a:ln w="50800">
            <a:solidFill>
              <a:srgbClr val="0EA5E9"/>
            </a:solidFill>
            <a:prstDash val="dash"/>
          </a:ln>
        </p:spPr>
        <p:txBody>
          <a:bodyPr/>
          <a:p/>
        </p:txBody>
      </p:sp>
      <p:sp>
        <p:nvSpPr>
          <p:cNvPr id="15" name="Circle 145"/>
          <p:cNvSpPr/>
          <p:nvPr/>
        </p:nvSpPr>
        <p:spPr>
          <a:xfrm>
            <a:off x="3520440" y="3794760"/>
            <a:ext cx="274320" cy="274320"/>
          </a:xfrm>
          <a:prstGeom prst="ellipse">
            <a:avLst/>
          </a:prstGeom>
          <a:solidFill>
            <a:schemeClr val="accent5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Circle 146"/>
          <p:cNvSpPr/>
          <p:nvPr/>
        </p:nvSpPr>
        <p:spPr>
          <a:xfrm>
            <a:off x="1847088" y="1984248"/>
            <a:ext cx="329184" cy="329184"/>
          </a:xfrm>
          <a:prstGeom prst="ellipse">
            <a:avLst/>
          </a:prstGeom>
          <a:solidFill>
            <a:schemeClr val="accent3"/>
          </a:solidFill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Circle 147"/>
          <p:cNvSpPr/>
          <p:nvPr/>
        </p:nvSpPr>
        <p:spPr>
          <a:xfrm>
            <a:off x="3493008" y="1984248"/>
            <a:ext cx="329184" cy="329184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Circle 148"/>
          <p:cNvSpPr/>
          <p:nvPr/>
        </p:nvSpPr>
        <p:spPr>
          <a:xfrm>
            <a:off x="932688" y="3081528"/>
            <a:ext cx="329184" cy="329184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Circle 149"/>
          <p:cNvSpPr/>
          <p:nvPr/>
        </p:nvSpPr>
        <p:spPr>
          <a:xfrm>
            <a:off x="2670048" y="3081528"/>
            <a:ext cx="329184" cy="329184"/>
          </a:xfrm>
          <a:prstGeom prst="ellipse">
            <a:avLst/>
          </a:prstGeom>
          <a:solidFill>
            <a:schemeClr val="accent4"/>
          </a:solidFill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Card 150"/>
          <p:cNvSpPr/>
          <p:nvPr/>
        </p:nvSpPr>
        <p:spPr>
          <a:xfrm>
            <a:off x="2194560" y="1600200"/>
            <a:ext cx="1783080" cy="310896"/>
          </a:xfrm>
          <a:prstGeom prst="roundRect">
            <a:avLst>
              <a:gd name="adj" fmla="val 41176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1" name="Text 151"/>
          <p:cNvSpPr txBox="1"/>
          <p:nvPr/>
        </p:nvSpPr>
        <p:spPr>
          <a:xfrm>
            <a:off x="2194560" y="16002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Route avoids critical hazard</a:t>
            </a:r>
            <a:endParaRPr lang="en-US" sz="1000" dirty="0"/>
          </a:p>
        </p:txBody>
      </p:sp>
      <p:sp>
        <p:nvSpPr>
          <p:cNvPr id="22" name="Circle 152"/>
          <p:cNvSpPr/>
          <p:nvPr/>
        </p:nvSpPr>
        <p:spPr>
          <a:xfrm>
            <a:off x="493776" y="4334256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sp>
        <p:nvSpPr>
          <p:cNvPr id="23" name="Text 153"/>
          <p:cNvSpPr txBox="1"/>
          <p:nvPr/>
        </p:nvSpPr>
        <p:spPr>
          <a:xfrm>
            <a:off x="7498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</a:t>
            </a:r>
            <a:endParaRPr lang="en-US" sz="1200" dirty="0"/>
          </a:p>
        </p:txBody>
      </p:sp>
      <p:sp>
        <p:nvSpPr>
          <p:cNvPr id="24" name="Circle 154"/>
          <p:cNvSpPr/>
          <p:nvPr/>
        </p:nvSpPr>
        <p:spPr>
          <a:xfrm>
            <a:off x="1865376" y="433425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5" name="Text 155"/>
          <p:cNvSpPr txBox="1"/>
          <p:nvPr/>
        </p:nvSpPr>
        <p:spPr>
          <a:xfrm>
            <a:off x="21214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Moderate</a:t>
            </a:r>
            <a:endParaRPr lang="en-US" sz="1200" dirty="0"/>
          </a:p>
        </p:txBody>
      </p:sp>
      <p:sp>
        <p:nvSpPr>
          <p:cNvPr id="26" name="Circle 156"/>
          <p:cNvSpPr/>
          <p:nvPr/>
        </p:nvSpPr>
        <p:spPr>
          <a:xfrm>
            <a:off x="3236976" y="4334256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27" name="Text 157"/>
          <p:cNvSpPr txBox="1"/>
          <p:nvPr/>
        </p:nvSpPr>
        <p:spPr>
          <a:xfrm>
            <a:off x="34930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</a:t>
            </a:r>
            <a:endParaRPr lang="en-US" sz="1200" dirty="0"/>
          </a:p>
        </p:txBody>
      </p:sp>
      <p:sp>
        <p:nvSpPr>
          <p:cNvPr id="28" name="Circle 158"/>
          <p:cNvSpPr/>
          <p:nvPr/>
        </p:nvSpPr>
        <p:spPr>
          <a:xfrm>
            <a:off x="5280660" y="13304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29" name="Icon 159" descr="MdLocation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302" y="1441094"/>
            <a:ext cx="281635" cy="281635"/>
          </a:xfrm>
          <a:prstGeom prst="rect">
            <a:avLst/>
          </a:prstGeom>
        </p:spPr>
      </p:pic>
      <p:sp>
        <p:nvSpPr>
          <p:cNvPr id="30" name="Text 160"/>
          <p:cNvSpPr txBox="1"/>
          <p:nvPr/>
        </p:nvSpPr>
        <p:spPr>
          <a:xfrm>
            <a:off x="59436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Colour-coded pins</a:t>
            </a:r>
            <a:endParaRPr lang="en-US" sz="1500" dirty="0"/>
          </a:p>
        </p:txBody>
      </p:sp>
      <p:sp>
        <p:nvSpPr>
          <p:cNvPr id="31" name="Text 161"/>
          <p:cNvSpPr txBox="1"/>
          <p:nvPr/>
        </p:nvSpPr>
        <p:spPr>
          <a:xfrm>
            <a:off x="5943600" y="1591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Severity and status at a glance</a:t>
            </a:r>
            <a:endParaRPr lang="en-US" sz="1200" dirty="0"/>
          </a:p>
        </p:txBody>
      </p:sp>
      <p:sp>
        <p:nvSpPr>
          <p:cNvPr id="32" name="Circle 162"/>
          <p:cNvSpPr/>
          <p:nvPr/>
        </p:nvSpPr>
        <p:spPr>
          <a:xfrm>
            <a:off x="5280660" y="206197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pic>
        <p:nvPicPr>
          <p:cNvPr id="33" name="Icon 163" descr="Md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302" y="2172614"/>
            <a:ext cx="281635" cy="281635"/>
          </a:xfrm>
          <a:prstGeom prst="rect">
            <a:avLst/>
          </a:prstGeom>
        </p:spPr>
      </p:pic>
      <p:sp>
        <p:nvSpPr>
          <p:cNvPr id="34" name="Text 164"/>
          <p:cNvSpPr txBox="1"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Safer routes</a:t>
            </a:r>
            <a:endParaRPr lang="en-US" sz="1500" dirty="0"/>
          </a:p>
        </p:txBody>
      </p:sp>
      <p:sp>
        <p:nvSpPr>
          <p:cNvPr id="35" name="Text 165"/>
          <p:cNvSpPr txBox="1"/>
          <p:nvPr/>
        </p:nvSpPr>
        <p:spPr>
          <a:xfrm>
            <a:off x="594360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Avoid or warn on critical hazards</a:t>
            </a:r>
            <a:endParaRPr lang="en-US" sz="1200" dirty="0"/>
          </a:p>
        </p:txBody>
      </p:sp>
      <p:sp>
        <p:nvSpPr>
          <p:cNvPr id="36" name="Circle 166"/>
          <p:cNvSpPr/>
          <p:nvPr/>
        </p:nvSpPr>
        <p:spPr>
          <a:xfrm>
            <a:off x="5280660" y="27934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37" name="Icon 167" descr="MdNotific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302" y="2904134"/>
            <a:ext cx="281635" cy="281635"/>
          </a:xfrm>
          <a:prstGeom prst="rect">
            <a:avLst/>
          </a:prstGeom>
        </p:spPr>
      </p:pic>
      <p:sp>
        <p:nvSpPr>
          <p:cNvPr id="38" name="Text 168"/>
          <p:cNvSpPr txBox="1"/>
          <p:nvPr/>
        </p:nvSpPr>
        <p:spPr>
          <a:xfrm>
            <a:off x="594360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Proximity alerts</a:t>
            </a:r>
            <a:endParaRPr lang="en-US" sz="1500" dirty="0"/>
          </a:p>
        </p:txBody>
      </p:sp>
      <p:sp>
        <p:nvSpPr>
          <p:cNvPr id="39" name="Text 169"/>
          <p:cNvSpPr txBox="1"/>
          <p:nvPr/>
        </p:nvSpPr>
        <p:spPr>
          <a:xfrm>
            <a:off x="5943600" y="3054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Heads-up before you reach one</a:t>
            </a:r>
            <a:endParaRPr lang="en-US" sz="1200" dirty="0"/>
          </a:p>
        </p:txBody>
      </p:sp>
      <p:sp>
        <p:nvSpPr>
          <p:cNvPr id="40" name="Circle 170"/>
          <p:cNvSpPr/>
          <p:nvPr/>
        </p:nvSpPr>
        <p:spPr>
          <a:xfrm>
            <a:off x="5280660" y="352501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41" name="Icon 171" descr="MdThumb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302" y="3635654"/>
            <a:ext cx="281635" cy="281635"/>
          </a:xfrm>
          <a:prstGeom prst="rect">
            <a:avLst/>
          </a:prstGeom>
        </p:spPr>
      </p:pic>
      <p:sp>
        <p:nvSpPr>
          <p:cNvPr id="42" name="Text 172"/>
          <p:cNvSpPr txBox="1"/>
          <p:nvPr/>
        </p:nvSpPr>
        <p:spPr>
          <a:xfrm>
            <a:off x="594360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Stay fresh</a:t>
            </a:r>
            <a:endParaRPr lang="en-US" sz="1500" dirty="0"/>
          </a:p>
        </p:txBody>
      </p:sp>
      <p:sp>
        <p:nvSpPr>
          <p:cNvPr id="43" name="Text 173"/>
          <p:cNvSpPr txBox="1"/>
          <p:nvPr/>
        </p:nvSpPr>
        <p:spPr>
          <a:xfrm>
            <a:off x="5943600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Confirm or mark 'still there'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Severity score: what to fix first</a:t>
            </a:r>
            <a:endParaRPr lang="en-US" sz="3000" dirty="0"/>
          </a:p>
        </p:txBody>
      </p:sp>
      <p:sp>
        <p:nvSpPr>
          <p:cNvPr id="3" name="Circle 174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175" descr="MdBar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1143000"/>
          <a:ext cx="43891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rd 176"/>
          <p:cNvSpPr/>
          <p:nvPr/>
        </p:nvSpPr>
        <p:spPr>
          <a:xfrm>
            <a:off x="5029200" y="1280160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7" name="Card 177"/>
          <p:cNvSpPr/>
          <p:nvPr/>
        </p:nvSpPr>
        <p:spPr>
          <a:xfrm>
            <a:off x="5212080" y="1463040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3"/>
          </a:solidFill>
          <a:ln/>
        </p:spPr>
        <p:txBody>
          <a:bodyPr/>
          <a:p/>
        </p:txBody>
      </p:sp>
      <p:sp>
        <p:nvSpPr>
          <p:cNvPr id="8" name="Text 178"/>
          <p:cNvSpPr txBox="1"/>
          <p:nvPr/>
        </p:nvSpPr>
        <p:spPr>
          <a:xfrm>
            <a:off x="5212080" y="1463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CRITICAL</a:t>
            </a:r>
            <a:endParaRPr lang="en-US" sz="1200" dirty="0"/>
          </a:p>
        </p:txBody>
      </p:sp>
      <p:sp>
        <p:nvSpPr>
          <p:cNvPr id="9" name="Text 179"/>
          <p:cNvSpPr txBox="1"/>
          <p:nvPr/>
        </p:nvSpPr>
        <p:spPr>
          <a:xfrm>
            <a:off x="6583680" y="1444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75 - 100</a:t>
            </a:r>
            <a:endParaRPr lang="en-US" sz="2000" dirty="0"/>
          </a:p>
        </p:txBody>
      </p:sp>
      <p:sp>
        <p:nvSpPr>
          <p:cNvPr id="10" name="Text 180"/>
          <p:cNvSpPr txBox="1"/>
          <p:nvPr/>
        </p:nvSpPr>
        <p:spPr>
          <a:xfrm>
            <a:off x="521208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Make safe within 24 h (barricade, cut power)</a:t>
            </a:r>
            <a:endParaRPr lang="en-US" sz="1200" dirty="0"/>
          </a:p>
        </p:txBody>
      </p:sp>
      <p:sp>
        <p:nvSpPr>
          <p:cNvPr id="11" name="Card 181"/>
          <p:cNvSpPr/>
          <p:nvPr/>
        </p:nvSpPr>
        <p:spPr>
          <a:xfrm>
            <a:off x="5029200" y="2395728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2" name="Card 182"/>
          <p:cNvSpPr/>
          <p:nvPr/>
        </p:nvSpPr>
        <p:spPr>
          <a:xfrm>
            <a:off x="5212080" y="2578608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3" name="Text 183"/>
          <p:cNvSpPr txBox="1"/>
          <p:nvPr/>
        </p:nvSpPr>
        <p:spPr>
          <a:xfrm>
            <a:off x="5212080" y="2578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MODERATE</a:t>
            </a:r>
            <a:endParaRPr lang="en-US" sz="1200" dirty="0"/>
          </a:p>
        </p:txBody>
      </p:sp>
      <p:sp>
        <p:nvSpPr>
          <p:cNvPr id="14" name="Text 184"/>
          <p:cNvSpPr txBox="1"/>
          <p:nvPr/>
        </p:nvSpPr>
        <p:spPr>
          <a:xfrm>
            <a:off x="658368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40 - 74</a:t>
            </a:r>
            <a:endParaRPr lang="en-US" sz="2000" dirty="0"/>
          </a:p>
        </p:txBody>
      </p:sp>
      <p:sp>
        <p:nvSpPr>
          <p:cNvPr id="15" name="Text 185"/>
          <p:cNvSpPr txBox="1"/>
          <p:nvPr/>
        </p:nvSpPr>
        <p:spPr>
          <a:xfrm>
            <a:off x="521208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 within 3 to 7 days</a:t>
            </a:r>
            <a:endParaRPr lang="en-US" sz="1200" dirty="0"/>
          </a:p>
        </p:txBody>
      </p:sp>
      <p:sp>
        <p:nvSpPr>
          <p:cNvPr id="16" name="Card 186"/>
          <p:cNvSpPr/>
          <p:nvPr/>
        </p:nvSpPr>
        <p:spPr>
          <a:xfrm>
            <a:off x="5029200" y="3511296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7" name="Card 187"/>
          <p:cNvSpPr/>
          <p:nvPr/>
        </p:nvSpPr>
        <p:spPr>
          <a:xfrm>
            <a:off x="5212080" y="3694176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18" name="Text 188"/>
          <p:cNvSpPr txBox="1"/>
          <p:nvPr/>
        </p:nvSpPr>
        <p:spPr>
          <a:xfrm>
            <a:off x="5212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</a:t>
            </a:r>
            <a:endParaRPr lang="en-US" sz="1200" dirty="0"/>
          </a:p>
        </p:txBody>
      </p:sp>
      <p:sp>
        <p:nvSpPr>
          <p:cNvPr id="19" name="Text 189"/>
          <p:cNvSpPr txBox="1"/>
          <p:nvPr/>
        </p:nvSpPr>
        <p:spPr>
          <a:xfrm>
            <a:off x="6583680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0 - 39</a:t>
            </a:r>
            <a:endParaRPr lang="en-US" sz="2000" dirty="0"/>
          </a:p>
        </p:txBody>
      </p:sp>
      <p:sp>
        <p:nvSpPr>
          <p:cNvPr id="20" name="Text 190"/>
          <p:cNvSpPr txBox="1"/>
          <p:nvPr/>
        </p:nvSpPr>
        <p:spPr>
          <a:xfrm>
            <a:off x="521208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Scheduled routine maintenance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Fixes are verified by photograph</a:t>
            </a:r>
            <a:endParaRPr lang="en-US" sz="3000" dirty="0"/>
          </a:p>
        </p:txBody>
      </p:sp>
      <p:sp>
        <p:nvSpPr>
          <p:cNvPr id="3" name="Circle 191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4" name="Icon 192" descr="MdVerifi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Shape 193"/>
          <p:cNvSpPr/>
          <p:nvPr/>
        </p:nvSpPr>
        <p:spPr>
          <a:xfrm>
            <a:off x="1097280" y="1499616"/>
            <a:ext cx="6949440" cy="4572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/>
        </p:txBody>
      </p:sp>
      <p:sp>
        <p:nvSpPr>
          <p:cNvPr id="6" name="Circle 194"/>
          <p:cNvSpPr/>
          <p:nvPr/>
        </p:nvSpPr>
        <p:spPr>
          <a:xfrm>
            <a:off x="81381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7" name="Icon 195" descr="MdPhoto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0" y="1359164"/>
            <a:ext cx="317480" cy="317480"/>
          </a:xfrm>
          <a:prstGeom prst="rect">
            <a:avLst/>
          </a:prstGeom>
        </p:spPr>
      </p:pic>
      <p:sp>
        <p:nvSpPr>
          <p:cNvPr id="8" name="Text 196"/>
          <p:cNvSpPr txBox="1"/>
          <p:nvPr/>
        </p:nvSpPr>
        <p:spPr>
          <a:xfrm>
            <a:off x="27432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Reported</a:t>
            </a:r>
            <a:endParaRPr lang="en-US" sz="1400" dirty="0"/>
          </a:p>
        </p:txBody>
      </p:sp>
      <p:sp>
        <p:nvSpPr>
          <p:cNvPr id="9" name="Text 197"/>
          <p:cNvSpPr txBox="1"/>
          <p:nvPr/>
        </p:nvSpPr>
        <p:spPr>
          <a:xfrm>
            <a:off x="2743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Photo + pin</a:t>
            </a:r>
            <a:endParaRPr lang="en-US" sz="1200" dirty="0"/>
          </a:p>
        </p:txBody>
      </p:sp>
      <p:sp>
        <p:nvSpPr>
          <p:cNvPr id="10" name="Circle 198"/>
          <p:cNvSpPr/>
          <p:nvPr/>
        </p:nvSpPr>
        <p:spPr>
          <a:xfrm>
            <a:off x="255117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1" name="Icon 199" descr="MdBar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900" y="1359164"/>
            <a:ext cx="317480" cy="317480"/>
          </a:xfrm>
          <a:prstGeom prst="rect">
            <a:avLst/>
          </a:prstGeom>
        </p:spPr>
      </p:pic>
      <p:sp>
        <p:nvSpPr>
          <p:cNvPr id="12" name="Text 200"/>
          <p:cNvSpPr txBox="1"/>
          <p:nvPr/>
        </p:nvSpPr>
        <p:spPr>
          <a:xfrm>
            <a:off x="201168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Ranked</a:t>
            </a:r>
            <a:endParaRPr lang="en-US" sz="1400" dirty="0"/>
          </a:p>
        </p:txBody>
      </p:sp>
      <p:sp>
        <p:nvSpPr>
          <p:cNvPr id="13" name="Text 201"/>
          <p:cNvSpPr txBox="1"/>
          <p:nvPr/>
        </p:nvSpPr>
        <p:spPr>
          <a:xfrm>
            <a:off x="201168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Score 0 to 100</a:t>
            </a:r>
            <a:endParaRPr lang="en-US" sz="1200" dirty="0"/>
          </a:p>
        </p:txBody>
      </p:sp>
      <p:sp>
        <p:nvSpPr>
          <p:cNvPr id="14" name="Circle 202"/>
          <p:cNvSpPr/>
          <p:nvPr/>
        </p:nvSpPr>
        <p:spPr>
          <a:xfrm>
            <a:off x="428853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5" name="Icon 203" descr="MdAssign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60" y="1359164"/>
            <a:ext cx="317480" cy="317480"/>
          </a:xfrm>
          <a:prstGeom prst="rect">
            <a:avLst/>
          </a:prstGeom>
        </p:spPr>
      </p:pic>
      <p:sp>
        <p:nvSpPr>
          <p:cNvPr id="16" name="Text 204"/>
          <p:cNvSpPr txBox="1"/>
          <p:nvPr/>
        </p:nvSpPr>
        <p:spPr>
          <a:xfrm>
            <a:off x="374904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Assigned</a:t>
            </a:r>
            <a:endParaRPr lang="en-US" sz="1400" dirty="0"/>
          </a:p>
        </p:txBody>
      </p:sp>
      <p:sp>
        <p:nvSpPr>
          <p:cNvPr id="17" name="Text 205"/>
          <p:cNvSpPr txBox="1"/>
          <p:nvPr/>
        </p:nvSpPr>
        <p:spPr>
          <a:xfrm>
            <a:off x="374904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Crew + deadline</a:t>
            </a:r>
            <a:endParaRPr lang="en-US" sz="1200" dirty="0"/>
          </a:p>
        </p:txBody>
      </p:sp>
      <p:sp>
        <p:nvSpPr>
          <p:cNvPr id="18" name="Circle 206"/>
          <p:cNvSpPr/>
          <p:nvPr/>
        </p:nvSpPr>
        <p:spPr>
          <a:xfrm>
            <a:off x="602589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9" name="Icon 207" descr="MdBui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620" y="1359164"/>
            <a:ext cx="317480" cy="317480"/>
          </a:xfrm>
          <a:prstGeom prst="rect">
            <a:avLst/>
          </a:prstGeom>
        </p:spPr>
      </p:pic>
      <p:sp>
        <p:nvSpPr>
          <p:cNvPr id="20" name="Text 208"/>
          <p:cNvSpPr txBox="1"/>
          <p:nvPr/>
        </p:nvSpPr>
        <p:spPr>
          <a:xfrm>
            <a:off x="548640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Fixed</a:t>
            </a:r>
            <a:endParaRPr lang="en-US" sz="1400" dirty="0"/>
          </a:p>
        </p:txBody>
      </p:sp>
      <p:sp>
        <p:nvSpPr>
          <p:cNvPr id="21" name="Text 209"/>
          <p:cNvSpPr txBox="1"/>
          <p:nvPr/>
        </p:nvSpPr>
        <p:spPr>
          <a:xfrm>
            <a:off x="548640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After-photo taken</a:t>
            </a:r>
            <a:endParaRPr lang="en-US" sz="1200" dirty="0"/>
          </a:p>
        </p:txBody>
      </p:sp>
      <p:sp>
        <p:nvSpPr>
          <p:cNvPr id="22" name="Circle 210"/>
          <p:cNvSpPr/>
          <p:nvPr/>
        </p:nvSpPr>
        <p:spPr>
          <a:xfrm>
            <a:off x="7763256" y="123444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23" name="Icon 211" descr="MdVerifi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980" y="1359164"/>
            <a:ext cx="317480" cy="317480"/>
          </a:xfrm>
          <a:prstGeom prst="rect">
            <a:avLst/>
          </a:prstGeom>
        </p:spPr>
      </p:pic>
      <p:sp>
        <p:nvSpPr>
          <p:cNvPr id="24" name="Text 212"/>
          <p:cNvSpPr txBox="1"/>
          <p:nvPr/>
        </p:nvSpPr>
        <p:spPr>
          <a:xfrm>
            <a:off x="722376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Verified</a:t>
            </a:r>
            <a:endParaRPr lang="en-US" sz="1400" dirty="0"/>
          </a:p>
        </p:txBody>
      </p:sp>
      <p:sp>
        <p:nvSpPr>
          <p:cNvPr id="25" name="Text 213"/>
          <p:cNvSpPr txBox="1"/>
          <p:nvPr/>
        </p:nvSpPr>
        <p:spPr>
          <a:xfrm>
            <a:off x="722376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+ citizens</a:t>
            </a:r>
            <a:endParaRPr lang="en-US" sz="1200" dirty="0"/>
          </a:p>
        </p:txBody>
      </p:sp>
      <p:sp>
        <p:nvSpPr>
          <p:cNvPr id="26" name="Card 214"/>
          <p:cNvSpPr/>
          <p:nvPr/>
        </p:nvSpPr>
        <p:spPr>
          <a:xfrm>
            <a:off x="457200" y="2743200"/>
            <a:ext cx="2286000" cy="1828800"/>
          </a:xfrm>
          <a:prstGeom prst="roundRect">
            <a:avLst>
              <a:gd name="adj" fmla="val 7000"/>
            </a:avLst>
          </a:prstGeom>
          <a:solidFill>
            <a:srgbClr val="FEE2E2"/>
          </a:solidFill>
          <a:ln/>
        </p:spPr>
        <p:txBody>
          <a:bodyPr/>
          <a:p/>
        </p:txBody>
      </p:sp>
      <p:sp>
        <p:nvSpPr>
          <p:cNvPr id="27" name="Circle 215"/>
          <p:cNvSpPr/>
          <p:nvPr/>
        </p:nvSpPr>
        <p:spPr>
          <a:xfrm>
            <a:off x="1325880" y="2971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28" name="Icon 216" descr="MdWar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581" y="3092501"/>
            <a:ext cx="307238" cy="307238"/>
          </a:xfrm>
          <a:prstGeom prst="rect">
            <a:avLst/>
          </a:prstGeom>
        </p:spPr>
      </p:pic>
      <p:sp>
        <p:nvSpPr>
          <p:cNvPr id="29" name="Text 217"/>
          <p:cNvSpPr txBox="1"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BEFORE</a:t>
            </a:r>
            <a:endParaRPr lang="en-US" sz="1500" dirty="0"/>
          </a:p>
        </p:txBody>
      </p:sp>
      <p:sp>
        <p:nvSpPr>
          <p:cNvPr id="30" name="Text 218"/>
          <p:cNvSpPr txBox="1"/>
          <p:nvPr/>
        </p:nvSpPr>
        <p:spPr>
          <a:xfrm>
            <a:off x="4572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Hazard photo + GPS pin</a:t>
            </a:r>
            <a:endParaRPr lang="en-US" sz="1200" dirty="0"/>
          </a:p>
        </p:txBody>
      </p:sp>
      <p:sp>
        <p:nvSpPr>
          <p:cNvPr id="31" name="Arrow 219"/>
          <p:cNvSpPr/>
          <p:nvPr/>
        </p:nvSpPr>
        <p:spPr>
          <a:xfrm>
            <a:off x="2834640" y="3520440"/>
            <a:ext cx="502920" cy="32004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2" name="Card 220"/>
          <p:cNvSpPr/>
          <p:nvPr/>
        </p:nvSpPr>
        <p:spPr>
          <a:xfrm>
            <a:off x="3429000" y="2743200"/>
            <a:ext cx="2286000" cy="182880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33" name="Circle 221"/>
          <p:cNvSpPr/>
          <p:nvPr/>
        </p:nvSpPr>
        <p:spPr>
          <a:xfrm>
            <a:off x="4297680" y="2971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34" name="Icon 222" descr="MdCheckCirc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8381" y="3092501"/>
            <a:ext cx="307238" cy="307238"/>
          </a:xfrm>
          <a:prstGeom prst="rect">
            <a:avLst/>
          </a:prstGeom>
        </p:spPr>
      </p:pic>
      <p:sp>
        <p:nvSpPr>
          <p:cNvPr id="35" name="Text 223"/>
          <p:cNvSpPr txBox="1"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AFTER</a:t>
            </a:r>
            <a:endParaRPr lang="en-US" sz="1500" dirty="0"/>
          </a:p>
        </p:txBody>
      </p:sp>
      <p:sp>
        <p:nvSpPr>
          <p:cNvPr id="36" name="Text 224"/>
          <p:cNvSpPr txBox="1"/>
          <p:nvPr/>
        </p:nvSpPr>
        <p:spPr>
          <a:xfrm>
            <a:off x="34290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Same spot, new photo</a:t>
            </a:r>
            <a:endParaRPr lang="en-US" sz="1200" dirty="0"/>
          </a:p>
        </p:txBody>
      </p:sp>
      <p:sp>
        <p:nvSpPr>
          <p:cNvPr id="37" name="Card 225"/>
          <p:cNvSpPr/>
          <p:nvPr/>
        </p:nvSpPr>
        <p:spPr>
          <a:xfrm>
            <a:off x="5943600" y="2743200"/>
            <a:ext cx="2743200" cy="18288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8" name="Text 226"/>
          <p:cNvSpPr txBox="1"/>
          <p:nvPr/>
        </p:nvSpPr>
        <p:spPr>
          <a:xfrm>
            <a:off x="612648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Checked before closing</a:t>
            </a:r>
            <a:endParaRPr lang="en-US" sz="1400" dirty="0"/>
          </a:p>
        </p:txBody>
      </p:sp>
      <p:sp>
        <p:nvSpPr>
          <p:cNvPr id="39" name="Text 227"/>
          <p:cNvSpPr txBox="1"/>
          <p:nvPr/>
        </p:nvSpPr>
        <p:spPr>
          <a:xfrm>
            <a:off x="612648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GPS matches the pin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Timestamp after the report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compares before/after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Citizens vote 'still there?'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it is built</a:t>
            </a:r>
            <a:endParaRPr lang="en-US" sz="3000" dirty="0"/>
          </a:p>
        </p:txBody>
      </p:sp>
      <p:sp>
        <p:nvSpPr>
          <p:cNvPr id="3" name="Circle 22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229" descr="Md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30"/>
          <p:cNvSpPr/>
          <p:nvPr/>
        </p:nvSpPr>
        <p:spPr>
          <a:xfrm>
            <a:off x="45720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Text 231"/>
          <p:cNvSpPr txBox="1"/>
          <p:nvPr/>
        </p:nvSpPr>
        <p:spPr>
          <a:xfrm>
            <a:off x="54864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Citizen app</a:t>
            </a:r>
            <a:endParaRPr lang="en-US" sz="1400" dirty="0"/>
          </a:p>
        </p:txBody>
      </p:sp>
      <p:sp>
        <p:nvSpPr>
          <p:cNvPr id="7" name="Text 232"/>
          <p:cNvSpPr txBox="1"/>
          <p:nvPr/>
        </p:nvSpPr>
        <p:spPr>
          <a:xfrm>
            <a:off x="54864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PWA, camera, GPS, voice</a:t>
            </a:r>
            <a:endParaRPr lang="en-US" sz="1100" dirty="0"/>
          </a:p>
        </p:txBody>
      </p:sp>
      <p:sp>
        <p:nvSpPr>
          <p:cNvPr id="8" name="Card 233"/>
          <p:cNvSpPr/>
          <p:nvPr/>
        </p:nvSpPr>
        <p:spPr>
          <a:xfrm>
            <a:off x="237744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9" name="Text 234"/>
          <p:cNvSpPr txBox="1"/>
          <p:nvPr/>
        </p:nvSpPr>
        <p:spPr>
          <a:xfrm>
            <a:off x="246888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Public map</a:t>
            </a:r>
            <a:endParaRPr lang="en-US" sz="1400" dirty="0"/>
          </a:p>
        </p:txBody>
      </p:sp>
      <p:sp>
        <p:nvSpPr>
          <p:cNvPr id="10" name="Text 235"/>
          <p:cNvSpPr txBox="1"/>
          <p:nvPr/>
        </p:nvSpPr>
        <p:spPr>
          <a:xfrm>
            <a:off x="246888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MapLibre + OSM</a:t>
            </a:r>
            <a:endParaRPr lang="en-US" sz="1100" dirty="0"/>
          </a:p>
        </p:txBody>
      </p:sp>
      <p:sp>
        <p:nvSpPr>
          <p:cNvPr id="11" name="Card 236"/>
          <p:cNvSpPr/>
          <p:nvPr/>
        </p:nvSpPr>
        <p:spPr>
          <a:xfrm>
            <a:off x="429768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237"/>
          <p:cNvSpPr txBox="1"/>
          <p:nvPr/>
        </p:nvSpPr>
        <p:spPr>
          <a:xfrm>
            <a:off x="438912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3" name="Text 238"/>
          <p:cNvSpPr txBox="1"/>
          <p:nvPr/>
        </p:nvSpPr>
        <p:spPr>
          <a:xfrm>
            <a:off x="438912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Queue, assign, verify</a:t>
            </a:r>
            <a:endParaRPr lang="en-US" sz="1100" dirty="0"/>
          </a:p>
        </p:txBody>
      </p:sp>
      <p:sp>
        <p:nvSpPr>
          <p:cNvPr id="14" name="Card 239"/>
          <p:cNvSpPr/>
          <p:nvPr/>
        </p:nvSpPr>
        <p:spPr>
          <a:xfrm>
            <a:off x="457200" y="2194560"/>
            <a:ext cx="54864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15" name="Text 240"/>
          <p:cNvSpPr txBox="1"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layer: REST + realtime updates</a:t>
            </a:r>
            <a:endParaRPr lang="en-US" sz="1400" dirty="0"/>
          </a:p>
        </p:txBody>
      </p:sp>
      <p:sp>
        <p:nvSpPr>
          <p:cNvPr id="16" name="Card 241"/>
          <p:cNvSpPr/>
          <p:nvPr/>
        </p:nvSpPr>
        <p:spPr>
          <a:xfrm>
            <a:off x="45720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17" name="Text 242"/>
          <p:cNvSpPr txBox="1"/>
          <p:nvPr/>
        </p:nvSpPr>
        <p:spPr>
          <a:xfrm>
            <a:off x="54864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services</a:t>
            </a:r>
            <a:endParaRPr lang="en-US" sz="1400" dirty="0"/>
          </a:p>
        </p:txBody>
      </p:sp>
      <p:sp>
        <p:nvSpPr>
          <p:cNvPr id="18" name="Text 243"/>
          <p:cNvSpPr txBox="1"/>
          <p:nvPr/>
        </p:nvSpPr>
        <p:spPr>
          <a:xfrm>
            <a:off x="5486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Classifier, speech, photo check</a:t>
            </a:r>
            <a:endParaRPr lang="en-US" sz="1100" dirty="0"/>
          </a:p>
        </p:txBody>
      </p:sp>
      <p:sp>
        <p:nvSpPr>
          <p:cNvPr id="19" name="Card 244"/>
          <p:cNvSpPr/>
          <p:nvPr/>
        </p:nvSpPr>
        <p:spPr>
          <a:xfrm>
            <a:off x="237744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20" name="Text 245"/>
          <p:cNvSpPr txBox="1"/>
          <p:nvPr/>
        </p:nvSpPr>
        <p:spPr>
          <a:xfrm>
            <a:off x="246888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Scoring engine</a:t>
            </a:r>
            <a:endParaRPr lang="en-US" sz="1400" dirty="0"/>
          </a:p>
        </p:txBody>
      </p:sp>
      <p:sp>
        <p:nvSpPr>
          <p:cNvPr id="21" name="Text 246"/>
          <p:cNvSpPr txBox="1"/>
          <p:nvPr/>
        </p:nvSpPr>
        <p:spPr>
          <a:xfrm>
            <a:off x="246888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Severity rules + exposure</a:t>
            </a:r>
            <a:endParaRPr lang="en-US" sz="1100" dirty="0"/>
          </a:p>
        </p:txBody>
      </p:sp>
      <p:sp>
        <p:nvSpPr>
          <p:cNvPr id="22" name="Card 247"/>
          <p:cNvSpPr/>
          <p:nvPr/>
        </p:nvSpPr>
        <p:spPr>
          <a:xfrm>
            <a:off x="429768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23" name="Text 248"/>
          <p:cNvSpPr txBox="1"/>
          <p:nvPr/>
        </p:nvSpPr>
        <p:spPr>
          <a:xfrm>
            <a:off x="438912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24" name="Text 249"/>
          <p:cNvSpPr txBox="1"/>
          <p:nvPr/>
        </p:nvSpPr>
        <p:spPr>
          <a:xfrm>
            <a:off x="438912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Push, SMS, email</a:t>
            </a:r>
            <a:endParaRPr lang="en-US" sz="1100" dirty="0"/>
          </a:p>
        </p:txBody>
      </p:sp>
      <p:sp>
        <p:nvSpPr>
          <p:cNvPr id="25" name="Card 250"/>
          <p:cNvSpPr/>
          <p:nvPr/>
        </p:nvSpPr>
        <p:spPr>
          <a:xfrm>
            <a:off x="457200" y="3749040"/>
            <a:ext cx="5486400" cy="502920"/>
          </a:xfrm>
          <a:prstGeom prst="roundRect">
            <a:avLst>
              <a:gd name="adj" fmla="val 25455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6" name="Text 251"/>
          <p:cNvSpPr txBox="1"/>
          <p:nvPr/>
        </p:nvSpPr>
        <p:spPr>
          <a:xfrm>
            <a:off x="45720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+ PostGIS  |  photo and audio storage</a:t>
            </a:r>
            <a:endParaRPr lang="en-US" sz="1400" dirty="0"/>
          </a:p>
        </p:txBody>
      </p:sp>
      <p:sp>
        <p:nvSpPr>
          <p:cNvPr id="27" name="Text 252"/>
          <p:cNvSpPr txBox="1"/>
          <p:nvPr/>
        </p:nvSpPr>
        <p:spPr>
          <a:xfrm>
            <a:off x="6309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Hackathon-friendly stack</a:t>
            </a:r>
            <a:endParaRPr lang="en-US" sz="1500" dirty="0"/>
          </a:p>
        </p:txBody>
      </p:sp>
      <p:sp>
        <p:nvSpPr>
          <p:cNvPr id="28" name="Card 253"/>
          <p:cNvSpPr/>
          <p:nvPr/>
        </p:nvSpPr>
        <p:spPr>
          <a:xfrm>
            <a:off x="6309360" y="1645920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9" name="Circle 254"/>
          <p:cNvSpPr/>
          <p:nvPr/>
        </p:nvSpPr>
        <p:spPr>
          <a:xfrm>
            <a:off x="6446520" y="176479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0" name="Text 255"/>
          <p:cNvSpPr txBox="1"/>
          <p:nvPr/>
        </p:nvSpPr>
        <p:spPr>
          <a:xfrm>
            <a:off x="6766560" y="1645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 PWA</a:t>
            </a:r>
            <a:endParaRPr lang="en-US" sz="1300" dirty="0"/>
          </a:p>
        </p:txBody>
      </p:sp>
      <p:sp>
        <p:nvSpPr>
          <p:cNvPr id="31" name="Card 256"/>
          <p:cNvSpPr/>
          <p:nvPr/>
        </p:nvSpPr>
        <p:spPr>
          <a:xfrm>
            <a:off x="6309360" y="2176272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2" name="Circle 257"/>
          <p:cNvSpPr/>
          <p:nvPr/>
        </p:nvSpPr>
        <p:spPr>
          <a:xfrm>
            <a:off x="6446520" y="2295144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3" name="Text 258"/>
          <p:cNvSpPr txBox="1"/>
          <p:nvPr/>
        </p:nvSpPr>
        <p:spPr>
          <a:xfrm>
            <a:off x="6766560" y="21762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MapLibre + OpenStreetMap</a:t>
            </a:r>
            <a:endParaRPr lang="en-US" sz="1300" dirty="0"/>
          </a:p>
        </p:txBody>
      </p:sp>
      <p:sp>
        <p:nvSpPr>
          <p:cNvPr id="34" name="Card 259"/>
          <p:cNvSpPr/>
          <p:nvPr/>
        </p:nvSpPr>
        <p:spPr>
          <a:xfrm>
            <a:off x="6309360" y="2706624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5" name="Circle 260"/>
          <p:cNvSpPr/>
          <p:nvPr/>
        </p:nvSpPr>
        <p:spPr>
          <a:xfrm>
            <a:off x="6446520" y="282549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6" name="Text 261"/>
          <p:cNvSpPr txBox="1"/>
          <p:nvPr/>
        </p:nvSpPr>
        <p:spPr>
          <a:xfrm>
            <a:off x="6766560" y="27066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 or Node.js</a:t>
            </a:r>
            <a:endParaRPr lang="en-US" sz="1300" dirty="0"/>
          </a:p>
        </p:txBody>
      </p:sp>
      <p:sp>
        <p:nvSpPr>
          <p:cNvPr id="37" name="Card 262"/>
          <p:cNvSpPr/>
          <p:nvPr/>
        </p:nvSpPr>
        <p:spPr>
          <a:xfrm>
            <a:off x="6309360" y="3236976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8" name="Circle 263"/>
          <p:cNvSpPr/>
          <p:nvPr/>
        </p:nvSpPr>
        <p:spPr>
          <a:xfrm>
            <a:off x="6446520" y="335584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9" name="Text 264"/>
          <p:cNvSpPr txBox="1"/>
          <p:nvPr/>
        </p:nvSpPr>
        <p:spPr>
          <a:xfrm>
            <a:off x="6766560" y="32369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+ PostGIS</a:t>
            </a:r>
            <a:endParaRPr lang="en-US" sz="1300" dirty="0"/>
          </a:p>
        </p:txBody>
      </p:sp>
      <p:sp>
        <p:nvSpPr>
          <p:cNvPr id="40" name="Card 265"/>
          <p:cNvSpPr/>
          <p:nvPr/>
        </p:nvSpPr>
        <p:spPr>
          <a:xfrm>
            <a:off x="6309360" y="3767328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1" name="Circle 266"/>
          <p:cNvSpPr/>
          <p:nvPr/>
        </p:nvSpPr>
        <p:spPr>
          <a:xfrm>
            <a:off x="6446520" y="38862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42" name="Text 267"/>
          <p:cNvSpPr txBox="1"/>
          <p:nvPr/>
        </p:nvSpPr>
        <p:spPr>
          <a:xfrm>
            <a:off x="6766560" y="37673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Vision + speech AI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Build plan: MVP first</a:t>
            </a:r>
            <a:endParaRPr lang="en-US" sz="3000" dirty="0"/>
          </a:p>
        </p:txBody>
      </p:sp>
      <p:sp>
        <p:nvSpPr>
          <p:cNvPr id="3" name="Circle 26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269" descr="MdRocketLau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70"/>
          <p:cNvSpPr/>
          <p:nvPr/>
        </p:nvSpPr>
        <p:spPr>
          <a:xfrm>
            <a:off x="45720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6" name="Circle 271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7" name="Icon 272" descr="Md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1603858"/>
            <a:ext cx="358445" cy="358445"/>
          </a:xfrm>
          <a:prstGeom prst="rect">
            <a:avLst/>
          </a:prstGeom>
        </p:spPr>
      </p:pic>
      <p:sp>
        <p:nvSpPr>
          <p:cNvPr id="8" name="Text 273"/>
          <p:cNvSpPr txBox="1"/>
          <p:nvPr/>
        </p:nvSpPr>
        <p:spPr>
          <a:xfrm>
            <a:off x="137160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MUST HAVE</a:t>
            </a:r>
            <a:endParaRPr lang="en-US" sz="1500" dirty="0"/>
          </a:p>
        </p:txBody>
      </p:sp>
      <p:sp>
        <p:nvSpPr>
          <p:cNvPr id="9" name="Text 274"/>
          <p:cNvSpPr txBox="1"/>
          <p:nvPr/>
        </p:nvSpPr>
        <p:spPr>
          <a:xfrm>
            <a:off x="68580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 + auto-GPS report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map with severity pins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 municipal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with after-photo</a:t>
            </a:r>
            <a:endParaRPr lang="en-US" sz="1400" dirty="0"/>
          </a:p>
        </p:txBody>
      </p:sp>
      <p:sp>
        <p:nvSpPr>
          <p:cNvPr id="10" name="Card 275"/>
          <p:cNvSpPr/>
          <p:nvPr/>
        </p:nvSpPr>
        <p:spPr>
          <a:xfrm>
            <a:off x="329184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1" name="Circle 276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12" name="Icon 277" descr="MdAutoAweso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538" y="1603858"/>
            <a:ext cx="358445" cy="358445"/>
          </a:xfrm>
          <a:prstGeom prst="rect">
            <a:avLst/>
          </a:prstGeom>
        </p:spPr>
      </p:pic>
      <p:sp>
        <p:nvSpPr>
          <p:cNvPr id="13" name="Text 278"/>
          <p:cNvSpPr txBox="1"/>
          <p:nvPr/>
        </p:nvSpPr>
        <p:spPr>
          <a:xfrm>
            <a:off x="42062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SHOULD HAVE</a:t>
            </a:r>
            <a:endParaRPr lang="en-US" sz="1500" dirty="0"/>
          </a:p>
        </p:txBody>
      </p:sp>
      <p:sp>
        <p:nvSpPr>
          <p:cNvPr id="14" name="Text 279"/>
          <p:cNvSpPr txBox="1"/>
          <p:nvPr/>
        </p:nvSpPr>
        <p:spPr>
          <a:xfrm>
            <a:off x="352044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hazard classification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 note + transcript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merging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Citizen confirm votes</a:t>
            </a:r>
            <a:endParaRPr lang="en-US" sz="1400" dirty="0"/>
          </a:p>
        </p:txBody>
      </p:sp>
      <p:sp>
        <p:nvSpPr>
          <p:cNvPr id="15" name="Card 280"/>
          <p:cNvSpPr/>
          <p:nvPr/>
        </p:nvSpPr>
        <p:spPr>
          <a:xfrm>
            <a:off x="612648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Circle 281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17" name="Icon 282" descr="Md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78" y="1603858"/>
            <a:ext cx="358445" cy="358445"/>
          </a:xfrm>
          <a:prstGeom prst="rect">
            <a:avLst/>
          </a:prstGeom>
        </p:spPr>
      </p:pic>
      <p:sp>
        <p:nvSpPr>
          <p:cNvPr id="18" name="Text 283"/>
          <p:cNvSpPr txBox="1"/>
          <p:nvPr/>
        </p:nvSpPr>
        <p:spPr>
          <a:xfrm>
            <a:off x="704088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NICE TO HAVE</a:t>
            </a:r>
            <a:endParaRPr lang="en-US" sz="1500" dirty="0"/>
          </a:p>
        </p:txBody>
      </p:sp>
      <p:sp>
        <p:nvSpPr>
          <p:cNvPr id="19" name="Text 284"/>
          <p:cNvSpPr txBox="1"/>
          <p:nvPr/>
        </p:nvSpPr>
        <p:spPr>
          <a:xfrm>
            <a:off x="635508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Safer-route navigation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Proximity alerts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Hot-spot analytics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Multilingual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 and impact</a:t>
            </a:r>
            <a:endParaRPr lang="en-US" sz="3000" dirty="0"/>
          </a:p>
        </p:txBody>
      </p:sp>
      <p:sp>
        <p:nvSpPr>
          <p:cNvPr id="3" name="Circle 28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286" descr="MdSp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Text 287"/>
          <p:cNvSpPr txBox="1"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3-minute demo</a:t>
            </a:r>
            <a:endParaRPr lang="en-US" sz="1600" dirty="0"/>
          </a:p>
        </p:txBody>
      </p:sp>
      <p:sp>
        <p:nvSpPr>
          <p:cNvPr id="6" name="Card 288"/>
          <p:cNvSpPr/>
          <p:nvPr/>
        </p:nvSpPr>
        <p:spPr>
          <a:xfrm>
            <a:off x="457200" y="160020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7" name="Text 289"/>
          <p:cNvSpPr txBox="1"/>
          <p:nvPr/>
        </p:nvSpPr>
        <p:spPr>
          <a:xfrm>
            <a:off x="457200" y="1600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0:00</a:t>
            </a:r>
            <a:endParaRPr lang="en-US" sz="1300" dirty="0"/>
          </a:p>
        </p:txBody>
      </p:sp>
      <p:sp>
        <p:nvSpPr>
          <p:cNvPr id="8" name="Text 290"/>
          <p:cNvSpPr txBox="1"/>
          <p:nvPr/>
        </p:nvSpPr>
        <p:spPr>
          <a:xfrm>
            <a:off x="13716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 a campus hazard from the phone</a:t>
            </a:r>
            <a:endParaRPr lang="en-US" sz="1300" dirty="0"/>
          </a:p>
        </p:txBody>
      </p:sp>
      <p:sp>
        <p:nvSpPr>
          <p:cNvPr id="9" name="Card 291"/>
          <p:cNvSpPr/>
          <p:nvPr/>
        </p:nvSpPr>
        <p:spPr>
          <a:xfrm>
            <a:off x="457200" y="219456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0" name="Text 292"/>
          <p:cNvSpPr txBox="1"/>
          <p:nvPr/>
        </p:nvSpPr>
        <p:spPr>
          <a:xfrm>
            <a:off x="45720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0:45</a:t>
            </a:r>
            <a:endParaRPr lang="en-US" sz="1300" dirty="0"/>
          </a:p>
        </p:txBody>
      </p:sp>
      <p:sp>
        <p:nvSpPr>
          <p:cNvPr id="11" name="Text 293"/>
          <p:cNvSpPr txBox="1"/>
          <p:nvPr/>
        </p:nvSpPr>
        <p:spPr>
          <a:xfrm>
            <a:off x="13716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 appears live on the public map</a:t>
            </a:r>
            <a:endParaRPr lang="en-US" sz="1300" dirty="0"/>
          </a:p>
        </p:txBody>
      </p:sp>
      <p:sp>
        <p:nvSpPr>
          <p:cNvPr id="12" name="Card 294"/>
          <p:cNvSpPr/>
          <p:nvPr/>
        </p:nvSpPr>
        <p:spPr>
          <a:xfrm>
            <a:off x="457200" y="278892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3" name="Text 295"/>
          <p:cNvSpPr txBox="1"/>
          <p:nvPr/>
        </p:nvSpPr>
        <p:spPr>
          <a:xfrm>
            <a:off x="457200" y="2788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1:30</a:t>
            </a:r>
            <a:endParaRPr lang="en-US" sz="1300" dirty="0"/>
          </a:p>
        </p:txBody>
      </p:sp>
      <p:sp>
        <p:nvSpPr>
          <p:cNvPr id="14" name="Text 296"/>
          <p:cNvSpPr txBox="1"/>
          <p:nvPr/>
        </p:nvSpPr>
        <p:spPr>
          <a:xfrm>
            <a:off x="137160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Hazard jumps to top of the ranked queue</a:t>
            </a:r>
            <a:endParaRPr lang="en-US" sz="1300" dirty="0"/>
          </a:p>
        </p:txBody>
      </p:sp>
      <p:sp>
        <p:nvSpPr>
          <p:cNvPr id="15" name="Card 297"/>
          <p:cNvSpPr/>
          <p:nvPr/>
        </p:nvSpPr>
        <p:spPr>
          <a:xfrm>
            <a:off x="457200" y="338328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6" name="Text 298"/>
          <p:cNvSpPr txBox="1"/>
          <p:nvPr/>
        </p:nvSpPr>
        <p:spPr>
          <a:xfrm>
            <a:off x="457200" y="3383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2:15</a:t>
            </a:r>
            <a:endParaRPr lang="en-US" sz="1300" dirty="0"/>
          </a:p>
        </p:txBody>
      </p:sp>
      <p:sp>
        <p:nvSpPr>
          <p:cNvPr id="17" name="Text 299"/>
          <p:cNvSpPr txBox="1"/>
          <p:nvPr/>
        </p:nvSpPr>
        <p:spPr>
          <a:xfrm>
            <a:off x="137160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After-photo uploaded, fix verified</a:t>
            </a:r>
            <a:endParaRPr lang="en-US" sz="1300" dirty="0"/>
          </a:p>
        </p:txBody>
      </p:sp>
      <p:sp>
        <p:nvSpPr>
          <p:cNvPr id="18" name="Card 300"/>
          <p:cNvSpPr/>
          <p:nvPr/>
        </p:nvSpPr>
        <p:spPr>
          <a:xfrm>
            <a:off x="457200" y="397764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9" name="Text 301"/>
          <p:cNvSpPr txBox="1"/>
          <p:nvPr/>
        </p:nvSpPr>
        <p:spPr>
          <a:xfrm>
            <a:off x="457200" y="3977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2:45</a:t>
            </a:r>
            <a:endParaRPr lang="en-US" sz="1300" dirty="0"/>
          </a:p>
        </p:txBody>
      </p:sp>
      <p:sp>
        <p:nvSpPr>
          <p:cNvPr id="20" name="Text 302"/>
          <p:cNvSpPr txBox="1"/>
          <p:nvPr/>
        </p:nvSpPr>
        <p:spPr>
          <a:xfrm>
            <a:off x="137160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Hot-spots and time-to-fix analytics</a:t>
            </a:r>
            <a:endParaRPr lang="en-US" sz="1300" dirty="0"/>
          </a:p>
        </p:txBody>
      </p:sp>
      <p:sp>
        <p:nvSpPr>
          <p:cNvPr id="21" name="Card 303"/>
          <p:cNvSpPr/>
          <p:nvPr/>
        </p:nvSpPr>
        <p:spPr>
          <a:xfrm>
            <a:off x="4937760" y="123444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2" name="Text 304"/>
          <p:cNvSpPr txBox="1"/>
          <p:nvPr/>
        </p:nvSpPr>
        <p:spPr>
          <a:xfrm>
            <a:off x="502920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&lt;10 s</a:t>
            </a:r>
            <a:endParaRPr lang="en-US" sz="3400" dirty="0"/>
          </a:p>
        </p:txBody>
      </p:sp>
      <p:sp>
        <p:nvSpPr>
          <p:cNvPr id="23" name="Text 305"/>
          <p:cNvSpPr txBox="1"/>
          <p:nvPr/>
        </p:nvSpPr>
        <p:spPr>
          <a:xfrm>
            <a:off x="507492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submit a report</a:t>
            </a:r>
            <a:endParaRPr lang="en-US" sz="1200" dirty="0"/>
          </a:p>
        </p:txBody>
      </p:sp>
      <p:sp>
        <p:nvSpPr>
          <p:cNvPr id="24" name="Card 306"/>
          <p:cNvSpPr/>
          <p:nvPr/>
        </p:nvSpPr>
        <p:spPr>
          <a:xfrm>
            <a:off x="6858000" y="123444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5" name="Text 307"/>
          <p:cNvSpPr txBox="1"/>
          <p:nvPr/>
        </p:nvSpPr>
        <p:spPr>
          <a:xfrm>
            <a:off x="694944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&lt;4 h</a:t>
            </a:r>
            <a:endParaRPr lang="en-US" sz="3400" dirty="0"/>
          </a:p>
        </p:txBody>
      </p:sp>
      <p:sp>
        <p:nvSpPr>
          <p:cNvPr id="26" name="Text 308"/>
          <p:cNvSpPr txBox="1"/>
          <p:nvPr/>
        </p:nvSpPr>
        <p:spPr>
          <a:xfrm>
            <a:off x="699516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 hazard to assignment</a:t>
            </a:r>
            <a:endParaRPr lang="en-US" sz="1200" dirty="0"/>
          </a:p>
        </p:txBody>
      </p:sp>
      <p:sp>
        <p:nvSpPr>
          <p:cNvPr id="27" name="Card 309"/>
          <p:cNvSpPr/>
          <p:nvPr/>
        </p:nvSpPr>
        <p:spPr>
          <a:xfrm>
            <a:off x="4937760" y="288036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8" name="Text 310"/>
          <p:cNvSpPr txBox="1"/>
          <p:nvPr/>
        </p:nvSpPr>
        <p:spPr>
          <a:xfrm>
            <a:off x="502920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100%</a:t>
            </a:r>
            <a:endParaRPr lang="en-US" sz="3400" dirty="0"/>
          </a:p>
        </p:txBody>
      </p:sp>
      <p:sp>
        <p:nvSpPr>
          <p:cNvPr id="29" name="Text 311"/>
          <p:cNvSpPr txBox="1"/>
          <p:nvPr/>
        </p:nvSpPr>
        <p:spPr>
          <a:xfrm>
            <a:off x="5074920" y="3749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fixes photo-verified</a:t>
            </a:r>
            <a:endParaRPr lang="en-US" sz="1200" dirty="0"/>
          </a:p>
        </p:txBody>
      </p:sp>
      <p:sp>
        <p:nvSpPr>
          <p:cNvPr id="30" name="Card 312"/>
          <p:cNvSpPr/>
          <p:nvPr/>
        </p:nvSpPr>
        <p:spPr>
          <a:xfrm>
            <a:off x="6858000" y="288036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31" name="Text 313"/>
          <p:cNvSpPr txBox="1"/>
          <p:nvPr/>
        </p:nvSpPr>
        <p:spPr>
          <a:xfrm>
            <a:off x="694944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24 h</a:t>
            </a:r>
            <a:endParaRPr lang="en-US" sz="3400" dirty="0"/>
          </a:p>
        </p:txBody>
      </p:sp>
      <p:sp>
        <p:nvSpPr>
          <p:cNvPr id="32" name="Text 314"/>
          <p:cNvSpPr txBox="1"/>
          <p:nvPr/>
        </p:nvSpPr>
        <p:spPr>
          <a:xfrm>
            <a:off x="6995160" y="3749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critical hazards made safe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ecor confetti"/>
          <p:cNvSpPr/>
          <p:nvPr/>
        </p:nvSpPr>
        <p:spPr>
          <a:xfrm>
            <a:off x="8833104" y="146304"/>
            <a:ext cx="73152" cy="73152"/>
          </a:xfrm>
          <a:prstGeom prst="ellipse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or confetti"/>
          <p:cNvSpPr/>
          <p:nvPr/>
        </p:nvSpPr>
        <p:spPr>
          <a:xfrm>
            <a:off x="8860536" y="1042415"/>
            <a:ext cx="109728" cy="109728"/>
          </a:xfrm>
          <a:prstGeom prst="ellipse">
            <a:avLst/>
          </a:prstGeom>
          <a:solidFill>
            <a:srgbClr val="16A3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or confetti"/>
          <p:cNvSpPr/>
          <p:nvPr/>
        </p:nvSpPr>
        <p:spPr>
          <a:xfrm>
            <a:off x="7818119" y="960120"/>
            <a:ext cx="91440" cy="91440"/>
          </a:xfrm>
          <a:prstGeom prst="ellipse">
            <a:avLst/>
          </a:prstGeom>
          <a:solidFill>
            <a:srgbClr val="0EA5E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cor confetti"/>
          <p:cNvSpPr/>
          <p:nvPr/>
        </p:nvSpPr>
        <p:spPr>
          <a:xfrm>
            <a:off x="7754112" y="210311"/>
            <a:ext cx="128016" cy="128016"/>
          </a:xfrm>
          <a:prstGeom prst="ellipse">
            <a:avLst/>
          </a:prstGeom>
          <a:solidFill>
            <a:srgbClr val="FBBF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 corner right"/>
          <p:cNvSpPr/>
          <p:nvPr/>
        </p:nvSpPr>
        <p:spPr>
          <a:xfrm>
            <a:off x="8321040" y="3931920"/>
            <a:ext cx="1645920" cy="1645920"/>
          </a:xfrm>
          <a:prstGeom prst="ellipse">
            <a:avLst/>
          </a:prstGeom>
          <a:solidFill>
            <a:srgbClr val="0EA5E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r corner left"/>
          <p:cNvSpPr/>
          <p:nvPr/>
        </p:nvSpPr>
        <p:spPr>
          <a:xfrm>
            <a:off x="-1188720" y="3954780"/>
            <a:ext cx="2377440" cy="237744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or ring inner"/>
          <p:cNvSpPr/>
          <p:nvPr/>
        </p:nvSpPr>
        <p:spPr>
          <a:xfrm>
            <a:off x="7886700" y="114300"/>
            <a:ext cx="1051560" cy="105156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cor ring outer"/>
          <p:cNvSpPr/>
          <p:nvPr/>
        </p:nvSpPr>
        <p:spPr>
          <a:xfrm>
            <a:off x="7635240" y="-137160"/>
            <a:ext cx="1554480" cy="1554480"/>
          </a:xfrm>
          <a:prstGeom prst="ellipse">
            <a:avLst/>
          </a:prstGeom>
          <a:solidFill>
            <a:srgbClr val="F9731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Risks, and how we handle them</a:t>
            </a:r>
            <a:endParaRPr lang="en-US" sz="3000" dirty="0"/>
          </a:p>
        </p:txBody>
      </p:sp>
      <p:sp>
        <p:nvSpPr>
          <p:cNvPr id="3" name="Circle 31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 316" descr="MdSecur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317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6" name="Circle 318"/>
          <p:cNvSpPr/>
          <p:nvPr/>
        </p:nvSpPr>
        <p:spPr>
          <a:xfrm>
            <a:off x="662940" y="14859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7" name="Icon 319" descr="MdB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616659"/>
            <a:ext cx="332842" cy="332842"/>
          </a:xfrm>
          <a:prstGeom prst="rect">
            <a:avLst/>
          </a:prstGeom>
        </p:spPr>
      </p:pic>
      <p:sp>
        <p:nvSpPr>
          <p:cNvPr id="8" name="Text 320"/>
          <p:cNvSpPr txBox="1"/>
          <p:nvPr/>
        </p:nvSpPr>
        <p:spPr>
          <a:xfrm>
            <a:off x="14173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Fake or spam reports</a:t>
            </a:r>
            <a:endParaRPr lang="en-US" sz="1500" dirty="0"/>
          </a:p>
        </p:txBody>
      </p:sp>
      <p:sp>
        <p:nvSpPr>
          <p:cNvPr id="9" name="Text 321"/>
          <p:cNvSpPr txBox="1"/>
          <p:nvPr/>
        </p:nvSpPr>
        <p:spPr>
          <a:xfrm>
            <a:off x="1417320" y="1847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Photo and GPS required, rate limits, community confirmations, admin review.</a:t>
            </a:r>
            <a:endParaRPr lang="en-US" sz="1200" dirty="0"/>
          </a:p>
        </p:txBody>
      </p:sp>
      <p:sp>
        <p:nvSpPr>
          <p:cNvPr id="10" name="Card 32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1" name="Circle 323"/>
          <p:cNvSpPr/>
          <p:nvPr/>
        </p:nvSpPr>
        <p:spPr>
          <a:xfrm>
            <a:off x="4869180" y="14859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p/>
        </p:txBody>
      </p:sp>
      <p:pic>
        <p:nvPicPr>
          <p:cNvPr id="12" name="Icon 324" descr="MdPrivacyT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1616659"/>
            <a:ext cx="332842" cy="332842"/>
          </a:xfrm>
          <a:prstGeom prst="rect">
            <a:avLst/>
          </a:prstGeom>
        </p:spPr>
      </p:pic>
      <p:sp>
        <p:nvSpPr>
          <p:cNvPr id="13" name="Text 325"/>
          <p:cNvSpPr txBox="1"/>
          <p:nvPr/>
        </p:nvSpPr>
        <p:spPr>
          <a:xfrm>
            <a:off x="56235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Privacy</a:t>
            </a:r>
            <a:endParaRPr lang="en-US" sz="1500" dirty="0"/>
          </a:p>
        </p:txBody>
      </p:sp>
      <p:sp>
        <p:nvSpPr>
          <p:cNvPr id="14" name="Text 326"/>
          <p:cNvSpPr txBox="1"/>
          <p:nvPr/>
        </p:nvSpPr>
        <p:spPr>
          <a:xfrm>
            <a:off x="5623560" y="1847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Faces and number plates auto-blurred. We store the hazard location, not the person.</a:t>
            </a:r>
            <a:endParaRPr lang="en-US" sz="1200" dirty="0"/>
          </a:p>
        </p:txBody>
      </p:sp>
      <p:sp>
        <p:nvSpPr>
          <p:cNvPr id="15" name="Card 327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Circle 328"/>
          <p:cNvSpPr/>
          <p:nvPr/>
        </p:nvSpPr>
        <p:spPr>
          <a:xfrm>
            <a:off x="662940" y="31775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17" name="Icon 329" descr="MdAccountBal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3308299"/>
            <a:ext cx="332842" cy="332842"/>
          </a:xfrm>
          <a:prstGeom prst="rect">
            <a:avLst/>
          </a:prstGeom>
        </p:spPr>
      </p:pic>
      <p:sp>
        <p:nvSpPr>
          <p:cNvPr id="18" name="Text 330"/>
          <p:cNvSpPr txBox="1"/>
          <p:nvPr/>
        </p:nvSpPr>
        <p:spPr>
          <a:xfrm>
            <a:off x="14173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Municipality adoption</a:t>
            </a:r>
            <a:endParaRPr lang="en-US" sz="1500" dirty="0"/>
          </a:p>
        </p:txBody>
      </p:sp>
      <p:sp>
        <p:nvSpPr>
          <p:cNvPr id="19" name="Text 331"/>
          <p:cNvSpPr txBox="1"/>
          <p:nvPr/>
        </p:nvSpPr>
        <p:spPr>
          <a:xfrm>
            <a:off x="1417320" y="35387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works standalone. Public map adds accountability. CSV and API export.</a:t>
            </a:r>
            <a:endParaRPr lang="en-US" sz="1200" dirty="0"/>
          </a:p>
        </p:txBody>
      </p:sp>
      <p:sp>
        <p:nvSpPr>
          <p:cNvPr id="20" name="Card 332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1" name="Circle 333"/>
          <p:cNvSpPr/>
          <p:nvPr/>
        </p:nvSpPr>
        <p:spPr>
          <a:xfrm>
            <a:off x="4869180" y="31775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22" name="Icon 334" descr="MdSmartTo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939" y="3308299"/>
            <a:ext cx="332842" cy="332842"/>
          </a:xfrm>
          <a:prstGeom prst="rect">
            <a:avLst/>
          </a:prstGeom>
        </p:spPr>
      </p:pic>
      <p:sp>
        <p:nvSpPr>
          <p:cNvPr id="23" name="Text 335"/>
          <p:cNvSpPr txBox="1"/>
          <p:nvPr/>
        </p:nvSpPr>
        <p:spPr>
          <a:xfrm>
            <a:off x="56235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Weak signal, wrong AI</a:t>
            </a:r>
            <a:endParaRPr lang="en-US" sz="1500" dirty="0"/>
          </a:p>
        </p:txBody>
      </p:sp>
      <p:sp>
        <p:nvSpPr>
          <p:cNvPr id="24" name="Text 336"/>
          <p:cNvSpPr txBox="1"/>
          <p:nvPr/>
        </p:nvSpPr>
        <p:spPr>
          <a:xfrm>
            <a:off x="5623560" y="35387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Offline queue and compression. User confirms AI picks; low confidence goes to a human.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Decor confetti"/>
          <p:cNvSpPr/>
          <p:nvPr/>
        </p:nvSpPr>
        <p:spPr>
          <a:xfrm>
            <a:off x="4892040" y="3246120"/>
            <a:ext cx="91440" cy="91440"/>
          </a:xfrm>
          <a:prstGeom prst="ellipse">
            <a:avLst/>
          </a:prstGeom>
          <a:solidFill>
            <a:srgbClr val="0EA5E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cor confetti"/>
          <p:cNvSpPr/>
          <p:nvPr/>
        </p:nvSpPr>
        <p:spPr>
          <a:xfrm>
            <a:off x="5047488" y="384048"/>
            <a:ext cx="146304" cy="146304"/>
          </a:xfrm>
          <a:prstGeom prst="ellipse">
            <a:avLst/>
          </a:prstGeom>
          <a:solidFill>
            <a:srgbClr val="FBBF2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cor dot"/>
          <p:cNvSpPr/>
          <p:nvPr/>
        </p:nvSpPr>
        <p:spPr>
          <a:xfrm>
            <a:off x="481431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cor dot"/>
          <p:cNvSpPr/>
          <p:nvPr/>
        </p:nvSpPr>
        <p:spPr>
          <a:xfrm>
            <a:off x="463143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cor dot"/>
          <p:cNvSpPr/>
          <p:nvPr/>
        </p:nvSpPr>
        <p:spPr>
          <a:xfrm>
            <a:off x="444855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cor dot"/>
          <p:cNvSpPr/>
          <p:nvPr/>
        </p:nvSpPr>
        <p:spPr>
          <a:xfrm>
            <a:off x="426567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cor dot"/>
          <p:cNvSpPr/>
          <p:nvPr/>
        </p:nvSpPr>
        <p:spPr>
          <a:xfrm>
            <a:off x="408279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cor dot"/>
          <p:cNvSpPr/>
          <p:nvPr/>
        </p:nvSpPr>
        <p:spPr>
          <a:xfrm>
            <a:off x="389991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cor dot"/>
          <p:cNvSpPr/>
          <p:nvPr/>
        </p:nvSpPr>
        <p:spPr>
          <a:xfrm>
            <a:off x="371703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cor dot"/>
          <p:cNvSpPr/>
          <p:nvPr/>
        </p:nvSpPr>
        <p:spPr>
          <a:xfrm>
            <a:off x="353415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cor dot"/>
          <p:cNvSpPr/>
          <p:nvPr/>
        </p:nvSpPr>
        <p:spPr>
          <a:xfrm>
            <a:off x="3351276" y="467715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cor dot"/>
          <p:cNvSpPr/>
          <p:nvPr/>
        </p:nvSpPr>
        <p:spPr>
          <a:xfrm>
            <a:off x="481431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cor dot"/>
          <p:cNvSpPr/>
          <p:nvPr/>
        </p:nvSpPr>
        <p:spPr>
          <a:xfrm>
            <a:off x="463143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cor dot"/>
          <p:cNvSpPr/>
          <p:nvPr/>
        </p:nvSpPr>
        <p:spPr>
          <a:xfrm>
            <a:off x="444855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cor dot"/>
          <p:cNvSpPr/>
          <p:nvPr/>
        </p:nvSpPr>
        <p:spPr>
          <a:xfrm>
            <a:off x="426567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cor dot"/>
          <p:cNvSpPr/>
          <p:nvPr/>
        </p:nvSpPr>
        <p:spPr>
          <a:xfrm>
            <a:off x="408279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cor dot"/>
          <p:cNvSpPr/>
          <p:nvPr/>
        </p:nvSpPr>
        <p:spPr>
          <a:xfrm>
            <a:off x="389991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cor dot"/>
          <p:cNvSpPr/>
          <p:nvPr/>
        </p:nvSpPr>
        <p:spPr>
          <a:xfrm>
            <a:off x="371703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cor dot"/>
          <p:cNvSpPr/>
          <p:nvPr/>
        </p:nvSpPr>
        <p:spPr>
          <a:xfrm>
            <a:off x="353415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cor dot"/>
          <p:cNvSpPr/>
          <p:nvPr/>
        </p:nvSpPr>
        <p:spPr>
          <a:xfrm>
            <a:off x="3351276" y="449427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cor dot"/>
          <p:cNvSpPr/>
          <p:nvPr/>
        </p:nvSpPr>
        <p:spPr>
          <a:xfrm>
            <a:off x="481431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cor dot"/>
          <p:cNvSpPr/>
          <p:nvPr/>
        </p:nvSpPr>
        <p:spPr>
          <a:xfrm>
            <a:off x="463143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cor dot"/>
          <p:cNvSpPr/>
          <p:nvPr/>
        </p:nvSpPr>
        <p:spPr>
          <a:xfrm>
            <a:off x="444855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cor dot"/>
          <p:cNvSpPr/>
          <p:nvPr/>
        </p:nvSpPr>
        <p:spPr>
          <a:xfrm>
            <a:off x="426567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cor dot"/>
          <p:cNvSpPr/>
          <p:nvPr/>
        </p:nvSpPr>
        <p:spPr>
          <a:xfrm>
            <a:off x="408279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cor dot"/>
          <p:cNvSpPr/>
          <p:nvPr/>
        </p:nvSpPr>
        <p:spPr>
          <a:xfrm>
            <a:off x="389991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cor dot"/>
          <p:cNvSpPr/>
          <p:nvPr/>
        </p:nvSpPr>
        <p:spPr>
          <a:xfrm>
            <a:off x="371703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cor dot"/>
          <p:cNvSpPr/>
          <p:nvPr/>
        </p:nvSpPr>
        <p:spPr>
          <a:xfrm>
            <a:off x="353415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cor dot"/>
          <p:cNvSpPr/>
          <p:nvPr/>
        </p:nvSpPr>
        <p:spPr>
          <a:xfrm>
            <a:off x="3351276" y="4311396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cor dot"/>
          <p:cNvSpPr/>
          <p:nvPr/>
        </p:nvSpPr>
        <p:spPr>
          <a:xfrm>
            <a:off x="481431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cor dot"/>
          <p:cNvSpPr/>
          <p:nvPr/>
        </p:nvSpPr>
        <p:spPr>
          <a:xfrm>
            <a:off x="463143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cor dot"/>
          <p:cNvSpPr/>
          <p:nvPr/>
        </p:nvSpPr>
        <p:spPr>
          <a:xfrm>
            <a:off x="444855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cor dot"/>
          <p:cNvSpPr/>
          <p:nvPr/>
        </p:nvSpPr>
        <p:spPr>
          <a:xfrm>
            <a:off x="426567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or dot"/>
          <p:cNvSpPr/>
          <p:nvPr/>
        </p:nvSpPr>
        <p:spPr>
          <a:xfrm>
            <a:off x="408279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or dot"/>
          <p:cNvSpPr/>
          <p:nvPr/>
        </p:nvSpPr>
        <p:spPr>
          <a:xfrm>
            <a:off x="389991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cor dot"/>
          <p:cNvSpPr/>
          <p:nvPr/>
        </p:nvSpPr>
        <p:spPr>
          <a:xfrm>
            <a:off x="371703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 dot"/>
          <p:cNvSpPr/>
          <p:nvPr/>
        </p:nvSpPr>
        <p:spPr>
          <a:xfrm>
            <a:off x="353415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r dot"/>
          <p:cNvSpPr/>
          <p:nvPr/>
        </p:nvSpPr>
        <p:spPr>
          <a:xfrm>
            <a:off x="3351276" y="4128515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Decor ring outer"/>
          <p:cNvSpPr/>
          <p:nvPr/>
        </p:nvSpPr>
        <p:spPr>
          <a:xfrm>
            <a:off x="6766560" y="-1371600"/>
            <a:ext cx="3474720" cy="347472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 ring inner"/>
          <p:cNvSpPr/>
          <p:nvPr/>
        </p:nvSpPr>
        <p:spPr>
          <a:xfrm>
            <a:off x="7406640" y="-731520"/>
            <a:ext cx="2194560" cy="2194560"/>
          </a:xfrm>
          <a:prstGeom prst="ellipse">
            <a:avLst/>
          </a:prstGeom>
          <a:solidFill>
            <a:srgbClr val="F9731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 ring bottom"/>
          <p:cNvSpPr/>
          <p:nvPr/>
        </p:nvSpPr>
        <p:spPr>
          <a:xfrm>
            <a:off x="-1097280" y="3840480"/>
            <a:ext cx="2560320" cy="2560320"/>
          </a:xfrm>
          <a:prstGeom prst="ellipse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rand pill"/>
          <p:cNvSpPr/>
          <p:nvPr/>
        </p:nvSpPr>
        <p:spPr>
          <a:xfrm>
            <a:off x="548640" y="5029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rand label"/>
          <p:cNvSpPr txBox="1"/>
          <p:nvPr/>
        </p:nvSpPr>
        <p:spPr>
          <a:xfrm>
            <a:off x="548640" y="50292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SAFESTREET</a:t>
            </a:r>
          </a:p>
        </p:txBody>
      </p:sp>
      <p:sp>
        <p:nvSpPr>
          <p:cNvPr id="7" name="Headline 1"/>
          <p:cNvSpPr txBox="1"/>
          <p:nvPr/>
        </p:nvSpPr>
        <p:spPr>
          <a:xfrm>
            <a:off x="548640" y="9601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Report fast.</a:t>
            </a:r>
          </a:p>
        </p:txBody>
      </p:sp>
      <p:sp>
        <p:nvSpPr>
          <p:cNvPr id="8" name="Headline 2"/>
          <p:cNvSpPr txBox="1"/>
          <p:nvPr/>
        </p:nvSpPr>
        <p:spPr>
          <a:xfrm>
            <a:off x="548640" y="16002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mbria"/>
              </a:rPr>
              <a:t>Fix first.</a:t>
            </a:r>
          </a:p>
        </p:txBody>
      </p:sp>
      <p:sp>
        <p:nvSpPr>
          <p:cNvPr id="9" name="Headline 3"/>
          <p:cNvSpPr txBox="1"/>
          <p:nvPr/>
        </p:nvSpPr>
        <p:spPr>
          <a:xfrm>
            <a:off x="548640" y="22402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BBF24"/>
                </a:solidFill>
                <a:latin typeface="Cambria"/>
              </a:rPr>
              <a:t>Prove it.</a:t>
            </a:r>
          </a:p>
        </p:txBody>
      </p:sp>
      <p:sp>
        <p:nvSpPr>
          <p:cNvPr id="10" name="Summary"/>
          <p:cNvSpPr txBox="1"/>
          <p:nvPr/>
        </p:nvSpPr>
        <p:spPr>
          <a:xfrm>
            <a:off x="548640" y="306324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1D5DB"/>
                </a:solidFill>
              </a:rPr>
              <a:t>Citizens report in seconds. Teams fix by severity. A hazard counts as fixed only when a photograph proves it.</a:t>
            </a:r>
          </a:p>
        </p:txBody>
      </p:sp>
      <p:sp>
        <p:nvSpPr>
          <p:cNvPr id="11" name="Thank you"/>
          <p:cNvSpPr txBox="1"/>
          <p:nvPr/>
        </p:nvSpPr>
        <p:spPr>
          <a:xfrm>
            <a:off x="548640" y="4023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12" name="Questions"/>
          <p:cNvSpPr txBox="1"/>
          <p:nvPr/>
        </p:nvSpPr>
        <p:spPr>
          <a:xfrm>
            <a:off x="548640" y="44805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Questions are welcome</a:t>
            </a:r>
          </a:p>
        </p:txBody>
      </p:sp>
      <p:sp>
        <p:nvSpPr>
          <p:cNvPr id="13" name="Card 1"/>
          <p:cNvSpPr/>
          <p:nvPr/>
        </p:nvSpPr>
        <p:spPr>
          <a:xfrm>
            <a:off x="5486400" y="82296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 circle 1"/>
          <p:cNvSpPr/>
          <p:nvPr/>
        </p:nvSpPr>
        <p:spPr>
          <a:xfrm>
            <a:off x="5760720" y="1078992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1" descr="MdPhotoCamer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1216152"/>
            <a:ext cx="274320" cy="274320"/>
          </a:xfrm>
          <a:prstGeom prst="rect">
            <a:avLst/>
          </a:prstGeom>
        </p:spPr>
      </p:pic>
      <p:sp>
        <p:nvSpPr>
          <p:cNvPr id="16" name="Card title 1"/>
          <p:cNvSpPr txBox="1"/>
          <p:nvPr/>
        </p:nvSpPr>
        <p:spPr>
          <a:xfrm>
            <a:off x="6492240" y="1069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Report in 10 seconds</a:t>
            </a:r>
          </a:p>
        </p:txBody>
      </p:sp>
      <p:sp>
        <p:nvSpPr>
          <p:cNvPr id="17" name="Card text 1"/>
          <p:cNvSpPr txBox="1"/>
          <p:nvPr/>
        </p:nvSpPr>
        <p:spPr>
          <a:xfrm>
            <a:off x="6492240" y="138988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Photo, pin or voice note</a:t>
            </a:r>
          </a:p>
        </p:txBody>
      </p:sp>
      <p:sp>
        <p:nvSpPr>
          <p:cNvPr id="18" name="Card 2"/>
          <p:cNvSpPr/>
          <p:nvPr/>
        </p:nvSpPr>
        <p:spPr>
          <a:xfrm>
            <a:off x="5486400" y="205740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 circle 2"/>
          <p:cNvSpPr/>
          <p:nvPr/>
        </p:nvSpPr>
        <p:spPr>
          <a:xfrm>
            <a:off x="5760720" y="2313432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 2" descr="MdBarCh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2450592"/>
            <a:ext cx="274320" cy="274320"/>
          </a:xfrm>
          <a:prstGeom prst="rect">
            <a:avLst/>
          </a:prstGeom>
        </p:spPr>
      </p:pic>
      <p:sp>
        <p:nvSpPr>
          <p:cNvPr id="21" name="Card title 2"/>
          <p:cNvSpPr txBox="1"/>
          <p:nvPr/>
        </p:nvSpPr>
        <p:spPr>
          <a:xfrm>
            <a:off x="6492240" y="2304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Fix what matters first</a:t>
            </a:r>
          </a:p>
        </p:txBody>
      </p:sp>
      <p:sp>
        <p:nvSpPr>
          <p:cNvPr id="22" name="Card text 2"/>
          <p:cNvSpPr txBox="1"/>
          <p:nvPr/>
        </p:nvSpPr>
        <p:spPr>
          <a:xfrm>
            <a:off x="6492240" y="26243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Severity-ranked queue</a:t>
            </a:r>
          </a:p>
        </p:txBody>
      </p:sp>
      <p:sp>
        <p:nvSpPr>
          <p:cNvPr id="23" name="Card 3"/>
          <p:cNvSpPr/>
          <p:nvPr/>
        </p:nvSpPr>
        <p:spPr>
          <a:xfrm>
            <a:off x="5486400" y="32918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 circle 3"/>
          <p:cNvSpPr/>
          <p:nvPr/>
        </p:nvSpPr>
        <p:spPr>
          <a:xfrm>
            <a:off x="5760720" y="3547872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3" descr="MdVerifi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0" y="3685032"/>
            <a:ext cx="274320" cy="274320"/>
          </a:xfrm>
          <a:prstGeom prst="rect">
            <a:avLst/>
          </a:prstGeom>
        </p:spPr>
      </p:pic>
      <p:sp>
        <p:nvSpPr>
          <p:cNvPr id="26" name="Card title 3"/>
          <p:cNvSpPr txBox="1"/>
          <p:nvPr/>
        </p:nvSpPr>
        <p:spPr>
          <a:xfrm>
            <a:off x="6492240" y="35387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Proof, not promises</a:t>
            </a:r>
          </a:p>
        </p:txBody>
      </p:sp>
      <p:sp>
        <p:nvSpPr>
          <p:cNvPr id="27" name="Card text 3"/>
          <p:cNvSpPr txBox="1"/>
          <p:nvPr/>
        </p:nvSpPr>
        <p:spPr>
          <a:xfrm>
            <a:off x="6492240" y="38587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After-photo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Street">
  <a:themeElements>
    <a:clrScheme name="SafeStreet">
      <a:dk1>
        <a:srgbClr val="111827"/>
      </a:dk1>
      <a:lt1>
        <a:srgbClr val="FFFFFF"/>
      </a:lt1>
      <a:dk2>
        <a:srgbClr val="1F2937"/>
      </a:dk2>
      <a:lt2>
        <a:srgbClr val="FFF1E6"/>
      </a:lt2>
      <a:accent1>
        <a:srgbClr val="F97316"/>
      </a:accent1>
      <a:accent2>
        <a:srgbClr val="FBBF24"/>
      </a:accent2>
      <a:accent3>
        <a:srgbClr val="DC2626"/>
      </a:accent3>
      <a:accent4>
        <a:srgbClr val="16A34A"/>
      </a:accent4>
      <a:accent5>
        <a:srgbClr val="0EA5E9"/>
      </a:accent5>
      <a:accent6>
        <a:srgbClr val="9CA3AF"/>
      </a:accent6>
      <a:hlink>
        <a:srgbClr val="F97316"/>
      </a:hlink>
      <a:folHlink>
        <a:srgbClr val="9CA3AF"/>
      </a:folHlink>
    </a:clrScheme>
    <a:fontScheme name="SafeStre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SafeStreet - Civic &amp; Road Hazard Tracker</dc:title>
  <dc:subject>PptxGenJS Presentation</dc:subject>
  <dc:creator>Hackathon Team</dc:creator>
  <cp:lastModifiedBy>Hackathon Team</cp:lastModifiedBy>
  <cp:revision>1</cp:revision>
  <dcterms:created xsi:type="dcterms:W3CDTF">2026-10-09T19:48:50Z</dcterms:created>
  <dcterms:modified xsi:type="dcterms:W3CDTF">2026-10-09T19:48:50Z</dcterms:modified>
</cp:coreProperties>
</file>